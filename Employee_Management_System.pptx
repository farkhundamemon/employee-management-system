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4"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7682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your roll number, and name your university. State the project title clearly: 'Employee Management System' — a web-based application built to help organizations manage their workforce data efficiently. Mention this presentation covers the problem, design, technology stack, modules, and a live/demo walkthrough, followed by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Employee Management System is a centralized, web-based platform. Emphasize the purpose: replacing manual/paper-based HR processes with an automated, reliable system. Briefly mention the six core areas it covers — employees, departments, attendance, leave, payroll, and reports — which will each be detailed in later slides. Close by explaining the motivation: solving a real, common organizational problem using modern web technology.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pain points of manual HR management first — lost records, spreadsheet chaos, manual payroll errors, and lack of reporting. Then pivot to objectives: this project directly addresses each pain point with a secure, centralized, automated system. Tie each objective back to a problem to show clear cause-and-effect reasoning to examiners.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technology stack. ASP.NET Core MVC provides the backend and application architecture, written in C#. Razor Views combine HTML/CSS with embedded C# to render dynamic pages, enhanced with JavaScript for interactivity. MySQL, managed via phpMyAdmin, stores all persistent data. Visual Studio was used as the IDE throughout development. If asked in viva, be ready to explain why MVC was chosen (separation of concerns, maintainability, testability).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end-to-end workflow: the user starts at the Login screen, is authenticated and redirected to the Dashboard, then can move into Employee Management, Attendance, Leave, and Payroll modules. All data generated across these modules feeds into the Reports section for analytics. Mention this reflects the MVC request flow: Controller receives the request, interacts with the Model/database, and renders the appropriate Razor 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relational database structure: the Employees table is central, linked via foreign keys to Departments, Attendance, LeaveRequests, and Payroll. Each Employee belongs to one Department, and has many Attendance records, Leave requests, and Payroll entries — a one-to-many relationship pattern. Mention MySQL was used with phpMyAdmin for schema design and management, and that primary/foreign keys enforce data integrity across modules.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Login page first — mention credentials are validated securely and passwords are stored hashed, not in plain text. Then move to the Dashboard, explaining the summary cards/widgets that give a quick overview (e.g., total employees, pending leave requests, department counts). If doing a live demo, log in here and show the real dashboard instead of the placeholder.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core CRUD operations for employees: Add, Edit, View, and Terminate. Emphasize validation on the Add/Edit forms (e.g., required fields, unique CNIC/email checks). Terminate is a soft action — it updates employee status rather than deleting the record, preserving historical data. Then cover Department Management: creating departments and assigning employees/managers to them. Show the corresponding screens if doing a live demo.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three tightly related modules. Attendance: employees are marked present/absent/late, forming the basis for payroll deductions. Leave: employees submit requests with type and dates; admins approve or reject, and approved leave automatically reflects in attendance records. Payroll: the system calculates net salary using basic pay, deductions (e.g., for absences), and generates a monthly payslip — reducing manual calculation errors.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turns raw operational data into decision-ready insights. Walk through the seven report types quickly: departmental employee distribution, attendance and leave summaries, payroll totals, and active vs terminated employee counts. Mention reports can be filtered by date range or department, and are designed to be exportable for offline review by management.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challenges: integrating the relational database correctly (foreign keys, cascading updates), implementing robust form validation on both client and server, and aggregating data cleanly for the reports module. Then pivot positively to future scope: email notifications for leave approvals, a companion mobile app, biometric attendance hardware integration, and advanced analytics/dashboards using charts. This shows examiners you understand both the system's current limits and a realistic growth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a complete, working Employee Management System covering the full HR lifecycle — from login to payroll to reporting. Reiterate the core benefits: reduced manual work, fewer errors, centralized data, and better decision support through reports. End with a confident statement that this project shows practical application of ASP.NET Core MVC and relational database design to a real-world business problem.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panel for their time. Invite questions. Be ready to discuss: why ASP.NET Core MVC was chosen, how data validation is enforced, how the database schema handles relationships, and any live demo requests. Keep answers concise and refer back to the relevant module slide if a deeper explanation is needed.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5.png"/><Relationship Id="rId4" Type="http://schemas.openxmlformats.org/officeDocument/2006/relationships/image" Target="../media/image25.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A6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2A6B"/>
          </a:solidFill>
          <a:ln/>
        </p:spPr>
      </p:sp>
      <p:sp>
        <p:nvSpPr>
          <p:cNvPr id="3" name="Shape 1"/>
          <p:cNvSpPr/>
          <p:nvPr/>
        </p:nvSpPr>
        <p:spPr>
          <a:xfrm>
            <a:off x="8503920" y="-2377440"/>
            <a:ext cx="5943600" cy="5943600"/>
          </a:xfrm>
          <a:prstGeom prst="ellipse">
            <a:avLst/>
          </a:prstGeom>
          <a:solidFill>
            <a:srgbClr val="0E1D4D"/>
          </a:solidFill>
          <a:ln/>
        </p:spPr>
      </p:sp>
      <p:sp>
        <p:nvSpPr>
          <p:cNvPr id="4" name="Shape 2"/>
          <p:cNvSpPr/>
          <p:nvPr/>
        </p:nvSpPr>
        <p:spPr>
          <a:xfrm>
            <a:off x="9692640" y="4206240"/>
            <a:ext cx="3840480" cy="3840480"/>
          </a:xfrm>
          <a:prstGeom prst="ellipse">
            <a:avLst/>
          </a:prstGeom>
          <a:solidFill>
            <a:srgbClr val="2F6FED"/>
          </a:solidFill>
          <a:ln/>
        </p:spPr>
      </p:sp>
      <p:sp>
        <p:nvSpPr>
          <p:cNvPr id="5" name="Shape 3"/>
          <p:cNvSpPr/>
          <p:nvPr/>
        </p:nvSpPr>
        <p:spPr>
          <a:xfrm>
            <a:off x="822960" y="777240"/>
            <a:ext cx="1005840" cy="1005840"/>
          </a:xfrm>
          <a:prstGeom prst="ellipse">
            <a:avLst/>
          </a:prstGeom>
          <a:solidFill>
            <a:srgbClr val="FFFFFF"/>
          </a:solidFill>
          <a:ln/>
        </p:spPr>
      </p:sp>
      <p:pic>
        <p:nvPicPr>
          <p:cNvPr id="6" name="Image 0" descr="/home/claude/ems_ppt/icons/title_main_navy.png"/>
          <p:cNvPicPr>
            <a:picLocks noChangeAspect="1"/>
          </p:cNvPicPr>
          <p:nvPr/>
        </p:nvPicPr>
        <p:blipFill>
          <a:blip r:embed="rId3"/>
          <a:stretch>
            <a:fillRect/>
          </a:stretch>
        </p:blipFill>
        <p:spPr>
          <a:xfrm>
            <a:off x="1074420" y="1028700"/>
            <a:ext cx="502920" cy="502920"/>
          </a:xfrm>
          <a:prstGeom prst="rect">
            <a:avLst/>
          </a:prstGeom>
        </p:spPr>
      </p:pic>
      <p:sp>
        <p:nvSpPr>
          <p:cNvPr id="8" name="Text 5"/>
          <p:cNvSpPr txBox="1"/>
          <p:nvPr/>
        </p:nvSpPr>
        <p:spPr>
          <a:xfrm>
            <a:off x="777240" y="2514600"/>
            <a:ext cx="9875520" cy="13716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Employee Management System</a:t>
            </a:r>
            <a:endParaRPr lang="en-US" sz="4400" dirty="0"/>
          </a:p>
        </p:txBody>
      </p:sp>
      <p:sp>
        <p:nvSpPr>
          <p:cNvPr id="9" name="Text 6"/>
          <p:cNvSpPr txBox="1"/>
          <p:nvPr/>
        </p:nvSpPr>
        <p:spPr>
          <a:xfrm>
            <a:off x="822960" y="3703320"/>
            <a:ext cx="8686800" cy="548640"/>
          </a:xfrm>
          <a:prstGeom prst="rect">
            <a:avLst/>
          </a:prstGeom>
          <a:noFill/>
          <a:ln/>
        </p:spPr>
        <p:txBody>
          <a:bodyPr wrap="square" lIns="0" tIns="0" rIns="0" bIns="0" rtlCol="0" anchor="ctr"/>
          <a:lstStyle/>
          <a:p>
            <a:pPr marL="0" indent="0">
              <a:buNone/>
            </a:pPr>
            <a:r>
              <a:rPr lang="en-US" sz="1500" i="1" dirty="0">
                <a:solidFill>
                  <a:srgbClr val="D6E4FA"/>
                </a:solidFill>
                <a:latin typeface="Calibri" pitchFamily="34" charset="0"/>
                <a:ea typeface="Calibri" pitchFamily="34" charset="-122"/>
                <a:cs typeface="Calibri" pitchFamily="34" charset="-120"/>
              </a:rPr>
              <a:t>A Web-Based Solution for Employee Records, Attendance, Leave, Payroll &amp; Reporting</a:t>
            </a:r>
            <a:endParaRPr lang="en-US" sz="1500" dirty="0"/>
          </a:p>
        </p:txBody>
      </p:sp>
      <p:sp>
        <p:nvSpPr>
          <p:cNvPr id="10" name="Shape 7"/>
          <p:cNvSpPr/>
          <p:nvPr/>
        </p:nvSpPr>
        <p:spPr>
          <a:xfrm>
            <a:off x="822960" y="4434840"/>
            <a:ext cx="2926080" cy="0"/>
          </a:xfrm>
          <a:prstGeom prst="line">
            <a:avLst/>
          </a:prstGeom>
          <a:noFill/>
          <a:ln w="31750">
            <a:solidFill>
              <a:srgbClr val="2F6FED"/>
            </a:solidFill>
            <a:prstDash val="solid"/>
          </a:ln>
        </p:spPr>
      </p:sp>
      <p:sp>
        <p:nvSpPr>
          <p:cNvPr id="11" name="Shape 8"/>
          <p:cNvSpPr/>
          <p:nvPr/>
        </p:nvSpPr>
        <p:spPr>
          <a:xfrm>
            <a:off x="822960" y="4754880"/>
            <a:ext cx="6035040" cy="1417320"/>
          </a:xfrm>
          <a:prstGeom prst="roundRect">
            <a:avLst>
              <a:gd name="adj" fmla="val 5161"/>
            </a:avLst>
          </a:prstGeom>
          <a:solidFill>
            <a:srgbClr val="0E1D4D"/>
          </a:solidFill>
          <a:ln/>
        </p:spPr>
      </p:sp>
      <p:sp>
        <p:nvSpPr>
          <p:cNvPr id="12" name="Text 9"/>
          <p:cNvSpPr txBox="1"/>
          <p:nvPr/>
        </p:nvSpPr>
        <p:spPr>
          <a:xfrm>
            <a:off x="1097280" y="4919471"/>
            <a:ext cx="5486400" cy="1030567"/>
          </a:xfrm>
          <a:prstGeom prst="rect">
            <a:avLst/>
          </a:prstGeom>
          <a:noFill/>
          <a:ln/>
        </p:spPr>
        <p:txBody>
          <a:bodyPr wrap="square" lIns="0" tIns="0" rIns="0" bIns="0" rtlCol="0" anchor="ctr"/>
          <a:lstStyle/>
          <a:p>
            <a:pPr marL="0" indent="0">
              <a:buNone/>
            </a:pPr>
            <a:r>
              <a:rPr lang="en-US" sz="1300" b="1" dirty="0">
                <a:solidFill>
                  <a:srgbClr val="D6E4FA"/>
                </a:solidFill>
                <a:latin typeface="Calibri" pitchFamily="34" charset="0"/>
                <a:ea typeface="Calibri" pitchFamily="34" charset="-122"/>
                <a:cs typeface="Calibri" pitchFamily="34" charset="-120"/>
              </a:rPr>
              <a:t>Presented by: </a:t>
            </a:r>
            <a:r>
              <a:rPr lang="en-US" sz="1300" b="1" dirty="0" err="1" smtClean="0">
                <a:solidFill>
                  <a:srgbClr val="D6E4FA"/>
                </a:solidFill>
                <a:latin typeface="Calibri" pitchFamily="34" charset="0"/>
                <a:ea typeface="Calibri" pitchFamily="34" charset="-122"/>
                <a:cs typeface="Calibri" pitchFamily="34" charset="-120"/>
              </a:rPr>
              <a:t>Farkhunda</a:t>
            </a:r>
            <a:r>
              <a:rPr lang="en-US" sz="1300" b="1" dirty="0" smtClean="0">
                <a:solidFill>
                  <a:srgbClr val="D6E4FA"/>
                </a:solidFill>
                <a:latin typeface="Calibri" pitchFamily="34" charset="0"/>
                <a:ea typeface="Calibri" pitchFamily="34" charset="-122"/>
                <a:cs typeface="Calibri" pitchFamily="34" charset="-120"/>
              </a:rPr>
              <a:t> </a:t>
            </a:r>
            <a:r>
              <a:rPr lang="en-US" sz="1300" b="1" dirty="0" err="1" smtClean="0">
                <a:solidFill>
                  <a:srgbClr val="D6E4FA"/>
                </a:solidFill>
                <a:latin typeface="Calibri" pitchFamily="34" charset="0"/>
                <a:ea typeface="Calibri" pitchFamily="34" charset="-122"/>
                <a:cs typeface="Calibri" pitchFamily="34" charset="-120"/>
              </a:rPr>
              <a:t>Memon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GETTING STARTED</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Introduction &amp; Project Overview</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lightbulb.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Text 4"/>
          <p:cNvSpPr txBox="1"/>
          <p:nvPr/>
        </p:nvSpPr>
        <p:spPr>
          <a:xfrm>
            <a:off x="548640" y="1600200"/>
            <a:ext cx="6217920" cy="365760"/>
          </a:xfrm>
          <a:prstGeom prst="rect">
            <a:avLst/>
          </a:prstGeom>
          <a:noFill/>
          <a:ln/>
        </p:spPr>
        <p:txBody>
          <a:bodyPr wrap="square" lIns="0" tIns="0" rIns="0" bIns="0" rtlCol="0" anchor="ctr"/>
          <a:lstStyle/>
          <a:p>
            <a:pPr marL="0" indent="0">
              <a:buNone/>
            </a:pPr>
            <a:r>
              <a:rPr lang="en-US" sz="1700" b="1" dirty="0">
                <a:solidFill>
                  <a:srgbClr val="152A6B"/>
                </a:solidFill>
                <a:latin typeface="Cambria" pitchFamily="34" charset="0"/>
                <a:ea typeface="Cambria" pitchFamily="34" charset="-122"/>
                <a:cs typeface="Cambria" pitchFamily="34" charset="-120"/>
              </a:rPr>
              <a:t>What is the System?</a:t>
            </a:r>
            <a:endParaRPr lang="en-US" sz="1700" dirty="0"/>
          </a:p>
        </p:txBody>
      </p:sp>
      <p:sp>
        <p:nvSpPr>
          <p:cNvPr id="8" name="Text 5"/>
          <p:cNvSpPr txBox="1"/>
          <p:nvPr/>
        </p:nvSpPr>
        <p:spPr>
          <a:xfrm>
            <a:off x="548640" y="2011680"/>
            <a:ext cx="6217920" cy="914400"/>
          </a:xfrm>
          <a:prstGeom prst="rect">
            <a:avLst/>
          </a:prstGeom>
          <a:noFill/>
          <a:ln/>
        </p:spPr>
        <p:txBody>
          <a:bodyPr wrap="square" lIns="0" tIns="0" rIns="0" bIns="0" rtlCol="0" anchor="t"/>
          <a:lstStyle/>
          <a:p>
            <a:pPr marL="0" indent="0">
              <a:buNone/>
            </a:pPr>
            <a:r>
              <a:rPr lang="en-US" sz="1350" dirty="0">
                <a:solidFill>
                  <a:srgbClr val="1B2340"/>
                </a:solidFill>
                <a:latin typeface="Calibri" pitchFamily="34" charset="0"/>
                <a:ea typeface="Calibri" pitchFamily="34" charset="-122"/>
                <a:cs typeface="Calibri" pitchFamily="34" charset="-120"/>
              </a:rPr>
              <a:t>A web-based platform that centralizes employee records, attendance, leave, departments, and payroll into one secure system — replacing scattered spreadsheets and paperwork.</a:t>
            </a:r>
            <a:endParaRPr lang="en-US" sz="1350" dirty="0"/>
          </a:p>
        </p:txBody>
      </p:sp>
      <p:sp>
        <p:nvSpPr>
          <p:cNvPr id="9" name="Text 6"/>
          <p:cNvSpPr txBox="1"/>
          <p:nvPr/>
        </p:nvSpPr>
        <p:spPr>
          <a:xfrm>
            <a:off x="548640" y="3017520"/>
            <a:ext cx="6217920" cy="365760"/>
          </a:xfrm>
          <a:prstGeom prst="rect">
            <a:avLst/>
          </a:prstGeom>
          <a:noFill/>
          <a:ln/>
        </p:spPr>
        <p:txBody>
          <a:bodyPr wrap="square" lIns="0" tIns="0" rIns="0" bIns="0" rtlCol="0" anchor="ctr"/>
          <a:lstStyle/>
          <a:p>
            <a:pPr marL="0" indent="0">
              <a:buNone/>
            </a:pPr>
            <a:r>
              <a:rPr lang="en-US" sz="1700" b="1" dirty="0">
                <a:solidFill>
                  <a:srgbClr val="152A6B"/>
                </a:solidFill>
                <a:latin typeface="Cambria" pitchFamily="34" charset="0"/>
                <a:ea typeface="Cambria" pitchFamily="34" charset="-122"/>
                <a:cs typeface="Cambria" pitchFamily="34" charset="-120"/>
              </a:rPr>
              <a:t>Purpose of the System</a:t>
            </a:r>
            <a:endParaRPr lang="en-US" sz="1700" dirty="0"/>
          </a:p>
        </p:txBody>
      </p:sp>
      <p:sp>
        <p:nvSpPr>
          <p:cNvPr id="10" name="Text 7"/>
          <p:cNvSpPr txBox="1"/>
          <p:nvPr/>
        </p:nvSpPr>
        <p:spPr>
          <a:xfrm>
            <a:off x="548640" y="3383280"/>
            <a:ext cx="6217920" cy="1463040"/>
          </a:xfrm>
          <a:prstGeom prst="rect">
            <a:avLst/>
          </a:prstGeom>
          <a:noFill/>
          <a:ln/>
        </p:spPr>
        <p:txBody>
          <a:bodyPr wrap="square" lIns="0" tIns="0" rIns="0" bIns="0" rtlCol="0" anchor="t"/>
          <a:lstStyle/>
          <a:p>
            <a:pPr marL="228600" indent="-228600" algn="l">
              <a:spcAft>
                <a:spcPts val="800"/>
              </a:spcAft>
              <a:buSzPct val="100000"/>
              <a:buChar char="✦"/>
            </a:pPr>
            <a:r>
              <a:rPr lang="en-US" sz="1350" dirty="0">
                <a:solidFill>
                  <a:srgbClr val="1B2340"/>
                </a:solidFill>
                <a:latin typeface="Calibri" pitchFamily="34" charset="0"/>
                <a:ea typeface="Calibri" pitchFamily="34" charset="-122"/>
                <a:cs typeface="Calibri" pitchFamily="34" charset="-120"/>
              </a:rPr>
              <a:t>Automate day-to-day HR operations</a:t>
            </a:r>
            <a:endParaRPr lang="en-US" sz="1350" dirty="0"/>
          </a:p>
          <a:p>
            <a:pPr marL="228600" indent="-228600" algn="l">
              <a:spcAft>
                <a:spcPts val="800"/>
              </a:spcAft>
              <a:buSzPct val="100000"/>
              <a:buChar char="✦"/>
            </a:pPr>
            <a:r>
              <a:rPr lang="en-US" sz="1350" dirty="0">
                <a:solidFill>
                  <a:srgbClr val="1B2340"/>
                </a:solidFill>
                <a:latin typeface="Calibri" pitchFamily="34" charset="0"/>
                <a:ea typeface="Calibri" pitchFamily="34" charset="-122"/>
                <a:cs typeface="Calibri" pitchFamily="34" charset="-120"/>
              </a:rPr>
              <a:t>Provide a single source of truth for employee data</a:t>
            </a:r>
            <a:endParaRPr lang="en-US" sz="1350" dirty="0"/>
          </a:p>
          <a:p>
            <a:pPr marL="228600" indent="-228600" algn="l">
              <a:spcAft>
                <a:spcPts val="800"/>
              </a:spcAft>
              <a:buSzPct val="100000"/>
              <a:buChar char="✦"/>
            </a:pPr>
            <a:r>
              <a:rPr lang="en-US" sz="1350" dirty="0">
                <a:solidFill>
                  <a:srgbClr val="1B2340"/>
                </a:solidFill>
                <a:latin typeface="Calibri" pitchFamily="34" charset="0"/>
                <a:ea typeface="Calibri" pitchFamily="34" charset="-122"/>
                <a:cs typeface="Calibri" pitchFamily="34" charset="-120"/>
              </a:rPr>
              <a:t>Enable fast, accurate reporting for decision-making</a:t>
            </a:r>
            <a:endParaRPr lang="en-US" sz="1350" dirty="0"/>
          </a:p>
        </p:txBody>
      </p:sp>
      <p:sp>
        <p:nvSpPr>
          <p:cNvPr id="11" name="Text 8"/>
          <p:cNvSpPr txBox="1"/>
          <p:nvPr/>
        </p:nvSpPr>
        <p:spPr>
          <a:xfrm>
            <a:off x="548640" y="4892040"/>
            <a:ext cx="6217920" cy="365760"/>
          </a:xfrm>
          <a:prstGeom prst="rect">
            <a:avLst/>
          </a:prstGeom>
          <a:noFill/>
          <a:ln/>
        </p:spPr>
        <p:txBody>
          <a:bodyPr wrap="square" lIns="0" tIns="0" rIns="0" bIns="0" rtlCol="0" anchor="ctr"/>
          <a:lstStyle/>
          <a:p>
            <a:pPr marL="0" indent="0">
              <a:buNone/>
            </a:pPr>
            <a:r>
              <a:rPr lang="en-US" sz="1700" b="1" dirty="0">
                <a:solidFill>
                  <a:srgbClr val="152A6B"/>
                </a:solidFill>
                <a:latin typeface="Cambria" pitchFamily="34" charset="0"/>
                <a:ea typeface="Cambria" pitchFamily="34" charset="-122"/>
                <a:cs typeface="Cambria" pitchFamily="34" charset="-120"/>
              </a:rPr>
              <a:t>Why This Project?</a:t>
            </a:r>
            <a:endParaRPr lang="en-US" sz="1700" dirty="0"/>
          </a:p>
        </p:txBody>
      </p:sp>
      <p:sp>
        <p:nvSpPr>
          <p:cNvPr id="12" name="Text 9"/>
          <p:cNvSpPr txBox="1"/>
          <p:nvPr/>
        </p:nvSpPr>
        <p:spPr>
          <a:xfrm>
            <a:off x="548640" y="5257800"/>
            <a:ext cx="6217920" cy="914400"/>
          </a:xfrm>
          <a:prstGeom prst="rect">
            <a:avLst/>
          </a:prstGeom>
          <a:noFill/>
          <a:ln/>
        </p:spPr>
        <p:txBody>
          <a:bodyPr wrap="square" lIns="0" tIns="0" rIns="0" bIns="0" rtlCol="0" anchor="t"/>
          <a:lstStyle/>
          <a:p>
            <a:pPr marL="0" indent="0">
              <a:buNone/>
            </a:pPr>
            <a:r>
              <a:rPr lang="en-US" sz="1350" dirty="0">
                <a:solidFill>
                  <a:srgbClr val="1B2340"/>
                </a:solidFill>
                <a:latin typeface="Calibri" pitchFamily="34" charset="0"/>
                <a:ea typeface="Calibri" pitchFamily="34" charset="-122"/>
                <a:cs typeface="Calibri" pitchFamily="34" charset="-120"/>
              </a:rPr>
              <a:t>Manual HR processes are slow and error-prone. This project was developed to demonstrate a practical, scalable ASP.NET Core solution to that real-world problem.</a:t>
            </a:r>
            <a:endParaRPr lang="en-US" sz="1350" dirty="0"/>
          </a:p>
        </p:txBody>
      </p:sp>
      <p:sp>
        <p:nvSpPr>
          <p:cNvPr id="13" name="Shape 10"/>
          <p:cNvSpPr/>
          <p:nvPr/>
        </p:nvSpPr>
        <p:spPr>
          <a:xfrm>
            <a:off x="7223760" y="1600200"/>
            <a:ext cx="4434840" cy="4617720"/>
          </a:xfrm>
          <a:prstGeom prst="roundRect">
            <a:avLst>
              <a:gd name="adj" fmla="val 2062"/>
            </a:avLst>
          </a:prstGeom>
          <a:solidFill>
            <a:srgbClr val="EAF1FC"/>
          </a:solidFill>
          <a:ln w="12700">
            <a:solidFill>
              <a:srgbClr val="C9D5EE"/>
            </a:solidFill>
            <a:prstDash val="solid"/>
          </a:ln>
        </p:spPr>
      </p:sp>
      <p:sp>
        <p:nvSpPr>
          <p:cNvPr id="14" name="Shape 11"/>
          <p:cNvSpPr/>
          <p:nvPr/>
        </p:nvSpPr>
        <p:spPr>
          <a:xfrm>
            <a:off x="8983980" y="1920240"/>
            <a:ext cx="914400" cy="914400"/>
          </a:xfrm>
          <a:prstGeom prst="ellipse">
            <a:avLst/>
          </a:prstGeom>
          <a:solidFill>
            <a:srgbClr val="152A6B"/>
          </a:solidFill>
          <a:ln/>
        </p:spPr>
      </p:sp>
      <p:pic>
        <p:nvPicPr>
          <p:cNvPr id="15" name="Image 1" descr="/home/claude/ems_ppt/icons/bullseye.png"/>
          <p:cNvPicPr>
            <a:picLocks noChangeAspect="1"/>
          </p:cNvPicPr>
          <p:nvPr/>
        </p:nvPicPr>
        <p:blipFill>
          <a:blip r:embed="rId4"/>
          <a:stretch>
            <a:fillRect/>
          </a:stretch>
        </p:blipFill>
        <p:spPr>
          <a:xfrm>
            <a:off x="9212580" y="2148840"/>
            <a:ext cx="457200" cy="457200"/>
          </a:xfrm>
          <a:prstGeom prst="rect">
            <a:avLst/>
          </a:prstGeom>
        </p:spPr>
      </p:pic>
      <p:sp>
        <p:nvSpPr>
          <p:cNvPr id="16" name="Text 12"/>
          <p:cNvSpPr txBox="1"/>
          <p:nvPr/>
        </p:nvSpPr>
        <p:spPr>
          <a:xfrm>
            <a:off x="7498080" y="2971800"/>
            <a:ext cx="3886200" cy="822960"/>
          </a:xfrm>
          <a:prstGeom prst="rect">
            <a:avLst/>
          </a:prstGeom>
          <a:noFill/>
          <a:ln/>
        </p:spPr>
        <p:txBody>
          <a:bodyPr wrap="square" lIns="0" tIns="0" rIns="0" bIns="0" rtlCol="0" anchor="ctr"/>
          <a:lstStyle/>
          <a:p>
            <a:pPr marL="0" indent="0" algn="ctr">
              <a:buNone/>
            </a:pPr>
            <a:r>
              <a:rPr lang="en-US" sz="1700" b="1" dirty="0">
                <a:solidFill>
                  <a:srgbClr val="152A6B"/>
                </a:solidFill>
                <a:latin typeface="Cambria" pitchFamily="34" charset="0"/>
                <a:ea typeface="Cambria" pitchFamily="34" charset="-122"/>
                <a:cs typeface="Cambria" pitchFamily="34" charset="-120"/>
              </a:rPr>
              <a:t>One Platform,</a:t>
            </a:r>
            <a:endParaRPr lang="en-US" sz="1700" dirty="0"/>
          </a:p>
          <a:p>
            <a:pPr marL="0" indent="0" algn="ctr">
              <a:buNone/>
            </a:pPr>
            <a:r>
              <a:rPr lang="en-US" sz="1700" b="1" dirty="0">
                <a:solidFill>
                  <a:srgbClr val="152A6B"/>
                </a:solidFill>
                <a:latin typeface="Cambria" pitchFamily="34" charset="0"/>
                <a:ea typeface="Cambria" pitchFamily="34" charset="-122"/>
                <a:cs typeface="Cambria" pitchFamily="34" charset="-120"/>
              </a:rPr>
              <a:t>Every HR Process</a:t>
            </a:r>
            <a:endParaRPr lang="en-US" sz="1700" dirty="0"/>
          </a:p>
        </p:txBody>
      </p:sp>
      <p:sp>
        <p:nvSpPr>
          <p:cNvPr id="17" name="Shape 13"/>
          <p:cNvSpPr/>
          <p:nvPr/>
        </p:nvSpPr>
        <p:spPr>
          <a:xfrm>
            <a:off x="7498080" y="3931920"/>
            <a:ext cx="1805940" cy="502920"/>
          </a:xfrm>
          <a:prstGeom prst="roundRect">
            <a:avLst>
              <a:gd name="adj" fmla="val 50909"/>
            </a:avLst>
          </a:prstGeom>
          <a:solidFill>
            <a:srgbClr val="FFFFFF"/>
          </a:solidFill>
          <a:ln w="12700">
            <a:solidFill>
              <a:srgbClr val="C9D5EE"/>
            </a:solidFill>
            <a:prstDash val="solid"/>
          </a:ln>
        </p:spPr>
      </p:sp>
      <p:sp>
        <p:nvSpPr>
          <p:cNvPr id="18" name="Text 14"/>
          <p:cNvSpPr txBox="1"/>
          <p:nvPr/>
        </p:nvSpPr>
        <p:spPr>
          <a:xfrm>
            <a:off x="7498080" y="3931920"/>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Employees</a:t>
            </a:r>
            <a:endParaRPr lang="en-US" sz="1250" dirty="0"/>
          </a:p>
        </p:txBody>
      </p:sp>
      <p:sp>
        <p:nvSpPr>
          <p:cNvPr id="19" name="Shape 15"/>
          <p:cNvSpPr/>
          <p:nvPr/>
        </p:nvSpPr>
        <p:spPr>
          <a:xfrm>
            <a:off x="9578340" y="3931920"/>
            <a:ext cx="1805940" cy="502920"/>
          </a:xfrm>
          <a:prstGeom prst="roundRect">
            <a:avLst>
              <a:gd name="adj" fmla="val 50909"/>
            </a:avLst>
          </a:prstGeom>
          <a:solidFill>
            <a:srgbClr val="FFFFFF"/>
          </a:solidFill>
          <a:ln w="12700">
            <a:solidFill>
              <a:srgbClr val="C9D5EE"/>
            </a:solidFill>
            <a:prstDash val="solid"/>
          </a:ln>
        </p:spPr>
      </p:sp>
      <p:sp>
        <p:nvSpPr>
          <p:cNvPr id="20" name="Text 16"/>
          <p:cNvSpPr txBox="1"/>
          <p:nvPr/>
        </p:nvSpPr>
        <p:spPr>
          <a:xfrm>
            <a:off x="9578340" y="3931920"/>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Departments</a:t>
            </a:r>
            <a:endParaRPr lang="en-US" sz="1250" dirty="0"/>
          </a:p>
        </p:txBody>
      </p:sp>
      <p:sp>
        <p:nvSpPr>
          <p:cNvPr id="21" name="Shape 17"/>
          <p:cNvSpPr/>
          <p:nvPr/>
        </p:nvSpPr>
        <p:spPr>
          <a:xfrm>
            <a:off x="7498080" y="4590288"/>
            <a:ext cx="1805940" cy="502920"/>
          </a:xfrm>
          <a:prstGeom prst="roundRect">
            <a:avLst>
              <a:gd name="adj" fmla="val 50909"/>
            </a:avLst>
          </a:prstGeom>
          <a:solidFill>
            <a:srgbClr val="FFFFFF"/>
          </a:solidFill>
          <a:ln w="12700">
            <a:solidFill>
              <a:srgbClr val="C9D5EE"/>
            </a:solidFill>
            <a:prstDash val="solid"/>
          </a:ln>
        </p:spPr>
      </p:sp>
      <p:sp>
        <p:nvSpPr>
          <p:cNvPr id="22" name="Text 18"/>
          <p:cNvSpPr txBox="1"/>
          <p:nvPr/>
        </p:nvSpPr>
        <p:spPr>
          <a:xfrm>
            <a:off x="7498080" y="4590288"/>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Attendance</a:t>
            </a:r>
            <a:endParaRPr lang="en-US" sz="1250" dirty="0"/>
          </a:p>
        </p:txBody>
      </p:sp>
      <p:sp>
        <p:nvSpPr>
          <p:cNvPr id="23" name="Shape 19"/>
          <p:cNvSpPr/>
          <p:nvPr/>
        </p:nvSpPr>
        <p:spPr>
          <a:xfrm>
            <a:off x="9578340" y="4590288"/>
            <a:ext cx="1805940" cy="502920"/>
          </a:xfrm>
          <a:prstGeom prst="roundRect">
            <a:avLst>
              <a:gd name="adj" fmla="val 50909"/>
            </a:avLst>
          </a:prstGeom>
          <a:solidFill>
            <a:srgbClr val="FFFFFF"/>
          </a:solidFill>
          <a:ln w="12700">
            <a:solidFill>
              <a:srgbClr val="C9D5EE"/>
            </a:solidFill>
            <a:prstDash val="solid"/>
          </a:ln>
        </p:spPr>
      </p:sp>
      <p:sp>
        <p:nvSpPr>
          <p:cNvPr id="24" name="Text 20"/>
          <p:cNvSpPr txBox="1"/>
          <p:nvPr/>
        </p:nvSpPr>
        <p:spPr>
          <a:xfrm>
            <a:off x="9578340" y="4590288"/>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Leave</a:t>
            </a:r>
            <a:endParaRPr lang="en-US" sz="1250" dirty="0"/>
          </a:p>
        </p:txBody>
      </p:sp>
      <p:sp>
        <p:nvSpPr>
          <p:cNvPr id="25" name="Shape 21"/>
          <p:cNvSpPr/>
          <p:nvPr/>
        </p:nvSpPr>
        <p:spPr>
          <a:xfrm>
            <a:off x="7498080" y="5248656"/>
            <a:ext cx="1805940" cy="502920"/>
          </a:xfrm>
          <a:prstGeom prst="roundRect">
            <a:avLst>
              <a:gd name="adj" fmla="val 50909"/>
            </a:avLst>
          </a:prstGeom>
          <a:solidFill>
            <a:srgbClr val="FFFFFF"/>
          </a:solidFill>
          <a:ln w="12700">
            <a:solidFill>
              <a:srgbClr val="C9D5EE"/>
            </a:solidFill>
            <a:prstDash val="solid"/>
          </a:ln>
        </p:spPr>
      </p:sp>
      <p:sp>
        <p:nvSpPr>
          <p:cNvPr id="26" name="Text 22"/>
          <p:cNvSpPr txBox="1"/>
          <p:nvPr/>
        </p:nvSpPr>
        <p:spPr>
          <a:xfrm>
            <a:off x="7498080" y="5248656"/>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Payroll</a:t>
            </a:r>
            <a:endParaRPr lang="en-US" sz="1250" dirty="0"/>
          </a:p>
        </p:txBody>
      </p:sp>
      <p:sp>
        <p:nvSpPr>
          <p:cNvPr id="27" name="Shape 23"/>
          <p:cNvSpPr/>
          <p:nvPr/>
        </p:nvSpPr>
        <p:spPr>
          <a:xfrm>
            <a:off x="9578340" y="5248656"/>
            <a:ext cx="1805940" cy="502920"/>
          </a:xfrm>
          <a:prstGeom prst="roundRect">
            <a:avLst>
              <a:gd name="adj" fmla="val 50909"/>
            </a:avLst>
          </a:prstGeom>
          <a:solidFill>
            <a:srgbClr val="FFFFFF"/>
          </a:solidFill>
          <a:ln w="12700">
            <a:solidFill>
              <a:srgbClr val="C9D5EE"/>
            </a:solidFill>
            <a:prstDash val="solid"/>
          </a:ln>
        </p:spPr>
      </p:sp>
      <p:sp>
        <p:nvSpPr>
          <p:cNvPr id="28" name="Text 24"/>
          <p:cNvSpPr txBox="1"/>
          <p:nvPr/>
        </p:nvSpPr>
        <p:spPr>
          <a:xfrm>
            <a:off x="9578340" y="5248656"/>
            <a:ext cx="1805940" cy="502920"/>
          </a:xfrm>
          <a:prstGeom prst="rect">
            <a:avLst/>
          </a:prstGeom>
          <a:noFill/>
          <a:ln/>
        </p:spPr>
        <p:txBody>
          <a:bodyPr wrap="square" lIns="0" tIns="0" rIns="0" bIns="0" rtlCol="0" anchor="ctr"/>
          <a:lstStyle/>
          <a:p>
            <a:pPr marL="0" indent="0" algn="ctr">
              <a:buNone/>
            </a:pPr>
            <a:r>
              <a:rPr lang="en-US" sz="1250" b="1" dirty="0">
                <a:solidFill>
                  <a:srgbClr val="152A6B"/>
                </a:solidFill>
                <a:latin typeface="Calibri" pitchFamily="34" charset="0"/>
                <a:ea typeface="Calibri" pitchFamily="34" charset="-122"/>
                <a:cs typeface="Calibri" pitchFamily="34" charset="-120"/>
              </a:rPr>
              <a:t>Reports</a:t>
            </a:r>
            <a:endParaRPr lang="en-US" sz="1250" dirty="0"/>
          </a:p>
        </p:txBody>
      </p:sp>
      <p:sp>
        <p:nvSpPr>
          <p:cNvPr id="29" name="Text 25"/>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0" name="Text 26"/>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WHY IT MATTERS</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warning.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91640"/>
            <a:ext cx="5257800" cy="4480560"/>
          </a:xfrm>
          <a:prstGeom prst="roundRect">
            <a:avLst>
              <a:gd name="adj" fmla="val 2041"/>
            </a:avLst>
          </a:prstGeom>
          <a:solidFill>
            <a:srgbClr val="152A6B"/>
          </a:solidFill>
          <a:ln/>
        </p:spPr>
      </p:sp>
      <p:sp>
        <p:nvSpPr>
          <p:cNvPr id="8" name="Shape 5"/>
          <p:cNvSpPr/>
          <p:nvPr/>
        </p:nvSpPr>
        <p:spPr>
          <a:xfrm>
            <a:off x="868680" y="2011680"/>
            <a:ext cx="685800" cy="685800"/>
          </a:xfrm>
          <a:prstGeom prst="ellipse">
            <a:avLst/>
          </a:prstGeom>
          <a:solidFill>
            <a:srgbClr val="2F6FED"/>
          </a:solidFill>
          <a:ln/>
        </p:spPr>
      </p:sp>
      <p:pic>
        <p:nvPicPr>
          <p:cNvPr id="9" name="Image 1" descr="/home/claude/ems_ppt/icons/warning.png"/>
          <p:cNvPicPr>
            <a:picLocks noChangeAspect="1"/>
          </p:cNvPicPr>
          <p:nvPr/>
        </p:nvPicPr>
        <p:blipFill>
          <a:blip r:embed="rId3"/>
          <a:stretch>
            <a:fillRect/>
          </a:stretch>
        </p:blipFill>
        <p:spPr>
          <a:xfrm>
            <a:off x="1040130" y="2183130"/>
            <a:ext cx="342900" cy="342900"/>
          </a:xfrm>
          <a:prstGeom prst="rect">
            <a:avLst/>
          </a:prstGeom>
        </p:spPr>
      </p:pic>
      <p:sp>
        <p:nvSpPr>
          <p:cNvPr id="10" name="Text 6"/>
          <p:cNvSpPr txBox="1"/>
          <p:nvPr/>
        </p:nvSpPr>
        <p:spPr>
          <a:xfrm>
            <a:off x="1691640" y="2075688"/>
            <a:ext cx="3886200" cy="54864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The Problem</a:t>
            </a:r>
            <a:endParaRPr lang="en-US" sz="1900" dirty="0"/>
          </a:p>
        </p:txBody>
      </p:sp>
      <p:sp>
        <p:nvSpPr>
          <p:cNvPr id="11" name="Text 7"/>
          <p:cNvSpPr txBox="1"/>
          <p:nvPr/>
        </p:nvSpPr>
        <p:spPr>
          <a:xfrm>
            <a:off x="914400" y="2926080"/>
            <a:ext cx="4526280" cy="3017520"/>
          </a:xfrm>
          <a:prstGeom prst="rect">
            <a:avLst/>
          </a:prstGeom>
          <a:noFill/>
          <a:ln/>
        </p:spPr>
        <p:txBody>
          <a:bodyPr wrap="square" lIns="0" tIns="0" rIns="0" bIns="0" rtlCol="0" anchor="t"/>
          <a:lstStyle/>
          <a:p>
            <a:pPr marL="228600" indent="-228600" algn="l">
              <a:spcAft>
                <a:spcPts val="1400"/>
              </a:spcAft>
              <a:buSzPct val="100000"/>
              <a:buChar char="✦"/>
            </a:pPr>
            <a:r>
              <a:rPr lang="en-US" sz="1300" dirty="0">
                <a:solidFill>
                  <a:srgbClr val="D6E4FA"/>
                </a:solidFill>
                <a:latin typeface="Calibri" pitchFamily="34" charset="0"/>
                <a:ea typeface="Calibri" pitchFamily="34" charset="-122"/>
                <a:cs typeface="Calibri" pitchFamily="34" charset="-120"/>
              </a:rPr>
              <a:t>Manual, paper-based employee records are slow to update and easy to lose</a:t>
            </a:r>
            <a:endParaRPr lang="en-US" sz="1300" dirty="0"/>
          </a:p>
          <a:p>
            <a:pPr marL="228600" indent="-228600" algn="l">
              <a:spcAft>
                <a:spcPts val="1400"/>
              </a:spcAft>
              <a:buSzPct val="100000"/>
              <a:buChar char="✦"/>
            </a:pPr>
            <a:r>
              <a:rPr lang="en-US" sz="1300" dirty="0">
                <a:solidFill>
                  <a:srgbClr val="D6E4FA"/>
                </a:solidFill>
                <a:latin typeface="Calibri" pitchFamily="34" charset="0"/>
                <a:ea typeface="Calibri" pitchFamily="34" charset="-122"/>
                <a:cs typeface="Calibri" pitchFamily="34" charset="-120"/>
              </a:rPr>
              <a:t>Attendance &amp; leave tracked in disconnected spreadsheets</a:t>
            </a:r>
            <a:endParaRPr lang="en-US" sz="1300" dirty="0"/>
          </a:p>
          <a:p>
            <a:pPr marL="228600" indent="-228600" algn="l">
              <a:spcAft>
                <a:spcPts val="1400"/>
              </a:spcAft>
              <a:buSzPct val="100000"/>
              <a:buChar char="✦"/>
            </a:pPr>
            <a:r>
              <a:rPr lang="en-US" sz="1300" dirty="0">
                <a:solidFill>
                  <a:srgbClr val="D6E4FA"/>
                </a:solidFill>
                <a:latin typeface="Calibri" pitchFamily="34" charset="0"/>
                <a:ea typeface="Calibri" pitchFamily="34" charset="-122"/>
                <a:cs typeface="Calibri" pitchFamily="34" charset="-120"/>
              </a:rPr>
              <a:t>Payroll calculations done manually — prone to errors</a:t>
            </a:r>
            <a:endParaRPr lang="en-US" sz="1300" dirty="0"/>
          </a:p>
          <a:p>
            <a:pPr marL="228600" indent="-228600" algn="l">
              <a:spcAft>
                <a:spcPts val="1400"/>
              </a:spcAft>
              <a:buSzPct val="100000"/>
              <a:buChar char="✦"/>
            </a:pPr>
            <a:r>
              <a:rPr lang="en-US" sz="1300" dirty="0">
                <a:solidFill>
                  <a:srgbClr val="D6E4FA"/>
                </a:solidFill>
                <a:latin typeface="Calibri" pitchFamily="34" charset="0"/>
                <a:ea typeface="Calibri" pitchFamily="34" charset="-122"/>
                <a:cs typeface="Calibri" pitchFamily="34" charset="-120"/>
              </a:rPr>
              <a:t>No centralized reporting for management decisions</a:t>
            </a:r>
            <a:endParaRPr lang="en-US" sz="1300" dirty="0"/>
          </a:p>
          <a:p>
            <a:pPr marL="228600" indent="-228600" algn="l">
              <a:spcAft>
                <a:spcPts val="1400"/>
              </a:spcAft>
              <a:buSzPct val="100000"/>
              <a:buChar char="✦"/>
            </a:pPr>
            <a:r>
              <a:rPr lang="en-US" sz="1300" dirty="0">
                <a:solidFill>
                  <a:srgbClr val="D6E4FA"/>
                </a:solidFill>
                <a:latin typeface="Calibri" pitchFamily="34" charset="0"/>
                <a:ea typeface="Calibri" pitchFamily="34" charset="-122"/>
                <a:cs typeface="Calibri" pitchFamily="34" charset="-120"/>
              </a:rPr>
              <a:t>Difficult to scale as the organization grows</a:t>
            </a:r>
            <a:endParaRPr lang="en-US" sz="1300" dirty="0"/>
          </a:p>
        </p:txBody>
      </p:sp>
      <p:sp>
        <p:nvSpPr>
          <p:cNvPr id="12" name="Shape 8"/>
          <p:cNvSpPr/>
          <p:nvPr/>
        </p:nvSpPr>
        <p:spPr>
          <a:xfrm>
            <a:off x="6355080" y="1691640"/>
            <a:ext cx="5257800" cy="4480560"/>
          </a:xfrm>
          <a:prstGeom prst="roundRect">
            <a:avLst>
              <a:gd name="adj" fmla="val 2041"/>
            </a:avLst>
          </a:prstGeom>
          <a:solidFill>
            <a:srgbClr val="EAF1FC"/>
          </a:solidFill>
          <a:ln w="12700">
            <a:solidFill>
              <a:srgbClr val="C9D5EE"/>
            </a:solidFill>
            <a:prstDash val="solid"/>
          </a:ln>
        </p:spPr>
      </p:sp>
      <p:sp>
        <p:nvSpPr>
          <p:cNvPr id="13" name="Shape 9"/>
          <p:cNvSpPr/>
          <p:nvPr/>
        </p:nvSpPr>
        <p:spPr>
          <a:xfrm>
            <a:off x="6675120" y="2011680"/>
            <a:ext cx="685800" cy="685800"/>
          </a:xfrm>
          <a:prstGeom prst="ellipse">
            <a:avLst/>
          </a:prstGeom>
          <a:solidFill>
            <a:srgbClr val="152A6B"/>
          </a:solidFill>
          <a:ln/>
        </p:spPr>
      </p:sp>
      <p:pic>
        <p:nvPicPr>
          <p:cNvPr id="14" name="Image 2" descr="/home/claude/ems_ppt/icons/checklist.png"/>
          <p:cNvPicPr>
            <a:picLocks noChangeAspect="1"/>
          </p:cNvPicPr>
          <p:nvPr/>
        </p:nvPicPr>
        <p:blipFill>
          <a:blip r:embed="rId4"/>
          <a:stretch>
            <a:fillRect/>
          </a:stretch>
        </p:blipFill>
        <p:spPr>
          <a:xfrm>
            <a:off x="6846570" y="2183130"/>
            <a:ext cx="342900" cy="342900"/>
          </a:xfrm>
          <a:prstGeom prst="rect">
            <a:avLst/>
          </a:prstGeom>
        </p:spPr>
      </p:pic>
      <p:sp>
        <p:nvSpPr>
          <p:cNvPr id="15" name="Text 10"/>
          <p:cNvSpPr txBox="1"/>
          <p:nvPr/>
        </p:nvSpPr>
        <p:spPr>
          <a:xfrm>
            <a:off x="7498080" y="2075688"/>
            <a:ext cx="3886200" cy="548640"/>
          </a:xfrm>
          <a:prstGeom prst="rect">
            <a:avLst/>
          </a:prstGeom>
          <a:noFill/>
          <a:ln/>
        </p:spPr>
        <p:txBody>
          <a:bodyPr wrap="square" lIns="0" tIns="0" rIns="0" bIns="0" rtlCol="0" anchor="ctr"/>
          <a:lstStyle/>
          <a:p>
            <a:pPr marL="0" indent="0">
              <a:buNone/>
            </a:pPr>
            <a:r>
              <a:rPr lang="en-US" sz="1900" b="1" dirty="0">
                <a:solidFill>
                  <a:srgbClr val="152A6B"/>
                </a:solidFill>
                <a:latin typeface="Cambria" pitchFamily="34" charset="0"/>
                <a:ea typeface="Cambria" pitchFamily="34" charset="-122"/>
                <a:cs typeface="Cambria" pitchFamily="34" charset="-120"/>
              </a:rPr>
              <a:t>Project Objectives</a:t>
            </a:r>
            <a:endParaRPr lang="en-US" sz="1900" dirty="0"/>
          </a:p>
        </p:txBody>
      </p:sp>
      <p:sp>
        <p:nvSpPr>
          <p:cNvPr id="16" name="Text 11"/>
          <p:cNvSpPr txBox="1"/>
          <p:nvPr/>
        </p:nvSpPr>
        <p:spPr>
          <a:xfrm>
            <a:off x="6720840" y="2926080"/>
            <a:ext cx="4526280" cy="3017520"/>
          </a:xfrm>
          <a:prstGeom prst="rect">
            <a:avLst/>
          </a:prstGeom>
          <a:noFill/>
          <a:ln/>
        </p:spPr>
        <p:txBody>
          <a:bodyPr wrap="square" lIns="0" tIns="0" rIns="0" bIns="0" rtlCol="0" anchor="t"/>
          <a:lstStyle/>
          <a:p>
            <a:pPr marL="228600" indent="-228600" algn="l">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Build a secure, role-based web application for HR management</a:t>
            </a:r>
            <a:endParaRPr lang="en-US" sz="1300" dirty="0"/>
          </a:p>
          <a:p>
            <a:pPr marL="228600" indent="-228600" algn="l">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Digitize employee, department &amp; attendance records</a:t>
            </a:r>
            <a:endParaRPr lang="en-US" sz="1300" dirty="0"/>
          </a:p>
          <a:p>
            <a:pPr marL="228600" indent="-228600" algn="l">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Automate leave approval workflows</a:t>
            </a:r>
            <a:endParaRPr lang="en-US" sz="1300" dirty="0"/>
          </a:p>
          <a:p>
            <a:pPr marL="228600" indent="-228600" algn="l">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Streamline payroll processing and reduce errors</a:t>
            </a:r>
            <a:endParaRPr lang="en-US" sz="1300" dirty="0"/>
          </a:p>
          <a:p>
            <a:pPr marL="228600" indent="-228600" algn="l">
              <a:spcAft>
                <a:spcPts val="1400"/>
              </a:spcAft>
              <a:buSzPct val="100000"/>
              <a:buChar char="✦"/>
            </a:pPr>
            <a:r>
              <a:rPr lang="en-US" sz="1300" dirty="0">
                <a:solidFill>
                  <a:srgbClr val="1B2340"/>
                </a:solidFill>
                <a:latin typeface="Calibri" pitchFamily="34" charset="0"/>
                <a:ea typeface="Calibri" pitchFamily="34" charset="-122"/>
                <a:cs typeface="Calibri" pitchFamily="34" charset="-120"/>
              </a:rPr>
              <a:t>Generate real-time, accurate reports for management</a:t>
            </a:r>
            <a:endParaRPr lang="en-US" sz="1300" dirty="0"/>
          </a:p>
        </p:txBody>
      </p:sp>
      <p:sp>
        <p:nvSpPr>
          <p:cNvPr id="17" name="Text 12"/>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18" name="Text 13"/>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Technologies Used</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database.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91640"/>
            <a:ext cx="3483864" cy="1920240"/>
          </a:xfrm>
          <a:prstGeom prst="roundRect">
            <a:avLst>
              <a:gd name="adj" fmla="val 4286"/>
            </a:avLst>
          </a:prstGeom>
          <a:solidFill>
            <a:srgbClr val="EAF1FC"/>
          </a:solidFill>
          <a:ln w="12700">
            <a:solidFill>
              <a:srgbClr val="C9D5EE"/>
            </a:solidFill>
            <a:prstDash val="solid"/>
          </a:ln>
        </p:spPr>
      </p:sp>
      <p:sp>
        <p:nvSpPr>
          <p:cNvPr id="8" name="Shape 5"/>
          <p:cNvSpPr/>
          <p:nvPr/>
        </p:nvSpPr>
        <p:spPr>
          <a:xfrm>
            <a:off x="1879092" y="1947672"/>
            <a:ext cx="822960" cy="822960"/>
          </a:xfrm>
          <a:prstGeom prst="ellipse">
            <a:avLst/>
          </a:prstGeom>
          <a:solidFill>
            <a:srgbClr val="152A6B"/>
          </a:solidFill>
          <a:ln/>
        </p:spPr>
      </p:sp>
      <p:pic>
        <p:nvPicPr>
          <p:cNvPr id="9" name="Image 1" descr="/home/claude/ems_ppt/icons/dotnet.png"/>
          <p:cNvPicPr>
            <a:picLocks noChangeAspect="1"/>
          </p:cNvPicPr>
          <p:nvPr/>
        </p:nvPicPr>
        <p:blipFill>
          <a:blip r:embed="rId4"/>
          <a:stretch>
            <a:fillRect/>
          </a:stretch>
        </p:blipFill>
        <p:spPr>
          <a:xfrm>
            <a:off x="2084832" y="2153412"/>
            <a:ext cx="411480" cy="411480"/>
          </a:xfrm>
          <a:prstGeom prst="rect">
            <a:avLst/>
          </a:prstGeom>
        </p:spPr>
      </p:pic>
      <p:sp>
        <p:nvSpPr>
          <p:cNvPr id="10" name="Text 6"/>
          <p:cNvSpPr txBox="1"/>
          <p:nvPr/>
        </p:nvSpPr>
        <p:spPr>
          <a:xfrm>
            <a:off x="685800" y="2862072"/>
            <a:ext cx="3209544" cy="365760"/>
          </a:xfrm>
          <a:prstGeom prst="rect">
            <a:avLst/>
          </a:prstGeom>
          <a:noFill/>
          <a:ln/>
        </p:spPr>
        <p:txBody>
          <a:bodyPr wrap="square" lIns="0" tIns="0" rIns="0" bIns="0" rtlCol="0" anchor="ctr"/>
          <a:lstStyle/>
          <a:p>
            <a:pPr marL="0" indent="0" algn="ctr">
              <a:buNone/>
            </a:pPr>
            <a:r>
              <a:rPr lang="en-US" sz="1350" b="1" dirty="0">
                <a:solidFill>
                  <a:srgbClr val="152A6B"/>
                </a:solidFill>
                <a:latin typeface="Calibri" pitchFamily="34" charset="0"/>
                <a:ea typeface="Calibri" pitchFamily="34" charset="-122"/>
                <a:cs typeface="Calibri" pitchFamily="34" charset="-120"/>
              </a:rPr>
              <a:t>ASP.NET Core MVC</a:t>
            </a:r>
            <a:endParaRPr lang="en-US" sz="1350" dirty="0"/>
          </a:p>
        </p:txBody>
      </p:sp>
      <p:sp>
        <p:nvSpPr>
          <p:cNvPr id="11" name="Text 7"/>
          <p:cNvSpPr txBox="1"/>
          <p:nvPr/>
        </p:nvSpPr>
        <p:spPr>
          <a:xfrm>
            <a:off x="685800" y="3209544"/>
            <a:ext cx="3209544" cy="365760"/>
          </a:xfrm>
          <a:prstGeom prst="rect">
            <a:avLst/>
          </a:prstGeom>
          <a:noFill/>
          <a:ln/>
        </p:spPr>
        <p:txBody>
          <a:bodyPr wrap="square" lIns="0" tIns="0" rIns="0" bIns="0" rtlCol="0" anchor="ctr"/>
          <a:lstStyle/>
          <a:p>
            <a:pPr marL="0" indent="0" algn="ctr">
              <a:buNone/>
            </a:pPr>
            <a:r>
              <a:rPr lang="en-US" sz="1050" dirty="0">
                <a:solidFill>
                  <a:srgbClr val="5B6584"/>
                </a:solidFill>
                <a:latin typeface="Calibri" pitchFamily="34" charset="0"/>
                <a:ea typeface="Calibri" pitchFamily="34" charset="-122"/>
                <a:cs typeface="Calibri" pitchFamily="34" charset="-120"/>
              </a:rPr>
              <a:t>Backend framework &amp; MVC architecture</a:t>
            </a:r>
            <a:endParaRPr lang="en-US" sz="1050" dirty="0"/>
          </a:p>
        </p:txBody>
      </p:sp>
      <p:sp>
        <p:nvSpPr>
          <p:cNvPr id="12" name="Shape 8"/>
          <p:cNvSpPr/>
          <p:nvPr/>
        </p:nvSpPr>
        <p:spPr>
          <a:xfrm>
            <a:off x="4352544" y="1691640"/>
            <a:ext cx="3483864" cy="1920240"/>
          </a:xfrm>
          <a:prstGeom prst="roundRect">
            <a:avLst>
              <a:gd name="adj" fmla="val 4286"/>
            </a:avLst>
          </a:prstGeom>
          <a:solidFill>
            <a:srgbClr val="EAF1FC"/>
          </a:solidFill>
          <a:ln w="12700">
            <a:solidFill>
              <a:srgbClr val="C9D5EE"/>
            </a:solidFill>
            <a:prstDash val="solid"/>
          </a:ln>
        </p:spPr>
      </p:sp>
      <p:sp>
        <p:nvSpPr>
          <p:cNvPr id="13" name="Shape 9"/>
          <p:cNvSpPr/>
          <p:nvPr/>
        </p:nvSpPr>
        <p:spPr>
          <a:xfrm>
            <a:off x="5682996" y="1947672"/>
            <a:ext cx="822960" cy="822960"/>
          </a:xfrm>
          <a:prstGeom prst="ellipse">
            <a:avLst/>
          </a:prstGeom>
          <a:solidFill>
            <a:srgbClr val="152A6B"/>
          </a:solidFill>
          <a:ln/>
        </p:spPr>
      </p:sp>
      <p:pic>
        <p:nvPicPr>
          <p:cNvPr id="14" name="Image 2" descr="/home/claude/ems_ppt/icons/csharp.png"/>
          <p:cNvPicPr>
            <a:picLocks noChangeAspect="1"/>
          </p:cNvPicPr>
          <p:nvPr/>
        </p:nvPicPr>
        <p:blipFill>
          <a:blip r:embed="rId5"/>
          <a:stretch>
            <a:fillRect/>
          </a:stretch>
        </p:blipFill>
        <p:spPr>
          <a:xfrm>
            <a:off x="5888736" y="2153412"/>
            <a:ext cx="411480" cy="411480"/>
          </a:xfrm>
          <a:prstGeom prst="rect">
            <a:avLst/>
          </a:prstGeom>
        </p:spPr>
      </p:pic>
      <p:sp>
        <p:nvSpPr>
          <p:cNvPr id="15" name="Text 10"/>
          <p:cNvSpPr txBox="1"/>
          <p:nvPr/>
        </p:nvSpPr>
        <p:spPr>
          <a:xfrm>
            <a:off x="4489704" y="2862072"/>
            <a:ext cx="3209544" cy="365760"/>
          </a:xfrm>
          <a:prstGeom prst="rect">
            <a:avLst/>
          </a:prstGeom>
          <a:noFill/>
          <a:ln/>
        </p:spPr>
        <p:txBody>
          <a:bodyPr wrap="square" lIns="0" tIns="0" rIns="0" bIns="0" rtlCol="0" anchor="ctr"/>
          <a:lstStyle/>
          <a:p>
            <a:pPr marL="0" indent="0" algn="ctr">
              <a:buNone/>
            </a:pPr>
            <a:r>
              <a:rPr lang="en-US" sz="1350" b="1" dirty="0">
                <a:solidFill>
                  <a:srgbClr val="152A6B"/>
                </a:solidFill>
                <a:latin typeface="Calibri" pitchFamily="34" charset="0"/>
                <a:ea typeface="Calibri" pitchFamily="34" charset="-122"/>
                <a:cs typeface="Calibri" pitchFamily="34" charset="-120"/>
              </a:rPr>
              <a:t>C#</a:t>
            </a:r>
            <a:endParaRPr lang="en-US" sz="1350" dirty="0"/>
          </a:p>
        </p:txBody>
      </p:sp>
      <p:sp>
        <p:nvSpPr>
          <p:cNvPr id="16" name="Text 11"/>
          <p:cNvSpPr txBox="1"/>
          <p:nvPr/>
        </p:nvSpPr>
        <p:spPr>
          <a:xfrm>
            <a:off x="4489704" y="3209544"/>
            <a:ext cx="3209544" cy="365760"/>
          </a:xfrm>
          <a:prstGeom prst="rect">
            <a:avLst/>
          </a:prstGeom>
          <a:noFill/>
          <a:ln/>
        </p:spPr>
        <p:txBody>
          <a:bodyPr wrap="square" lIns="0" tIns="0" rIns="0" bIns="0" rtlCol="0" anchor="ctr"/>
          <a:lstStyle/>
          <a:p>
            <a:pPr marL="0" indent="0" algn="ctr">
              <a:buNone/>
            </a:pPr>
            <a:r>
              <a:rPr lang="en-US" sz="1050" dirty="0">
                <a:solidFill>
                  <a:srgbClr val="5B6584"/>
                </a:solidFill>
                <a:latin typeface="Calibri" pitchFamily="34" charset="0"/>
                <a:ea typeface="Calibri" pitchFamily="34" charset="-122"/>
                <a:cs typeface="Calibri" pitchFamily="34" charset="-120"/>
              </a:rPr>
              <a:t>Core application logic</a:t>
            </a:r>
            <a:endParaRPr lang="en-US" sz="1050" dirty="0"/>
          </a:p>
        </p:txBody>
      </p:sp>
      <p:sp>
        <p:nvSpPr>
          <p:cNvPr id="17" name="Shape 12"/>
          <p:cNvSpPr/>
          <p:nvPr/>
        </p:nvSpPr>
        <p:spPr>
          <a:xfrm>
            <a:off x="8156448" y="1691640"/>
            <a:ext cx="3483864" cy="1920240"/>
          </a:xfrm>
          <a:prstGeom prst="roundRect">
            <a:avLst>
              <a:gd name="adj" fmla="val 4286"/>
            </a:avLst>
          </a:prstGeom>
          <a:solidFill>
            <a:srgbClr val="EAF1FC"/>
          </a:solidFill>
          <a:ln w="12700">
            <a:solidFill>
              <a:srgbClr val="C9D5EE"/>
            </a:solidFill>
            <a:prstDash val="solid"/>
          </a:ln>
        </p:spPr>
      </p:sp>
      <p:sp>
        <p:nvSpPr>
          <p:cNvPr id="18" name="Shape 13"/>
          <p:cNvSpPr/>
          <p:nvPr/>
        </p:nvSpPr>
        <p:spPr>
          <a:xfrm>
            <a:off x="9486900" y="1947672"/>
            <a:ext cx="822960" cy="822960"/>
          </a:xfrm>
          <a:prstGeom prst="ellipse">
            <a:avLst/>
          </a:prstGeom>
          <a:solidFill>
            <a:srgbClr val="152A6B"/>
          </a:solidFill>
          <a:ln/>
        </p:spPr>
      </p:sp>
      <p:pic>
        <p:nvPicPr>
          <p:cNvPr id="19" name="Image 3" descr="/home/claude/ems_ppt/icons/mysql.png"/>
          <p:cNvPicPr>
            <a:picLocks noChangeAspect="1"/>
          </p:cNvPicPr>
          <p:nvPr/>
        </p:nvPicPr>
        <p:blipFill>
          <a:blip r:embed="rId6"/>
          <a:stretch>
            <a:fillRect/>
          </a:stretch>
        </p:blipFill>
        <p:spPr>
          <a:xfrm>
            <a:off x="9692640" y="2153412"/>
            <a:ext cx="411480" cy="411480"/>
          </a:xfrm>
          <a:prstGeom prst="rect">
            <a:avLst/>
          </a:prstGeom>
        </p:spPr>
      </p:pic>
      <p:sp>
        <p:nvSpPr>
          <p:cNvPr id="20" name="Text 14"/>
          <p:cNvSpPr txBox="1"/>
          <p:nvPr/>
        </p:nvSpPr>
        <p:spPr>
          <a:xfrm>
            <a:off x="8293608" y="2862072"/>
            <a:ext cx="3209544" cy="365760"/>
          </a:xfrm>
          <a:prstGeom prst="rect">
            <a:avLst/>
          </a:prstGeom>
          <a:noFill/>
          <a:ln/>
        </p:spPr>
        <p:txBody>
          <a:bodyPr wrap="square" lIns="0" tIns="0" rIns="0" bIns="0" rtlCol="0" anchor="ctr"/>
          <a:lstStyle/>
          <a:p>
            <a:pPr marL="0" indent="0" algn="ctr">
              <a:buNone/>
            </a:pPr>
            <a:r>
              <a:rPr lang="en-US" sz="1350" b="1" dirty="0">
                <a:solidFill>
                  <a:srgbClr val="152A6B"/>
                </a:solidFill>
                <a:latin typeface="Calibri" pitchFamily="34" charset="0"/>
                <a:ea typeface="Calibri" pitchFamily="34" charset="-122"/>
                <a:cs typeface="Calibri" pitchFamily="34" charset="-120"/>
              </a:rPr>
              <a:t>MySQL (phpMyAdmin)</a:t>
            </a:r>
            <a:endParaRPr lang="en-US" sz="1350" dirty="0"/>
          </a:p>
        </p:txBody>
      </p:sp>
      <p:sp>
        <p:nvSpPr>
          <p:cNvPr id="21" name="Text 15"/>
          <p:cNvSpPr txBox="1"/>
          <p:nvPr/>
        </p:nvSpPr>
        <p:spPr>
          <a:xfrm>
            <a:off x="8293608" y="3209544"/>
            <a:ext cx="3209544" cy="365760"/>
          </a:xfrm>
          <a:prstGeom prst="rect">
            <a:avLst/>
          </a:prstGeom>
          <a:noFill/>
          <a:ln/>
        </p:spPr>
        <p:txBody>
          <a:bodyPr wrap="square" lIns="0" tIns="0" rIns="0" bIns="0" rtlCol="0" anchor="ctr"/>
          <a:lstStyle/>
          <a:p>
            <a:pPr marL="0" indent="0" algn="ctr">
              <a:buNone/>
            </a:pPr>
            <a:r>
              <a:rPr lang="en-US" sz="1050" dirty="0">
                <a:solidFill>
                  <a:srgbClr val="5B6584"/>
                </a:solidFill>
                <a:latin typeface="Calibri" pitchFamily="34" charset="0"/>
                <a:ea typeface="Calibri" pitchFamily="34" charset="-122"/>
                <a:cs typeface="Calibri" pitchFamily="34" charset="-120"/>
              </a:rPr>
              <a:t>Relational database management</a:t>
            </a:r>
            <a:endParaRPr lang="en-US" sz="1050" dirty="0"/>
          </a:p>
        </p:txBody>
      </p:sp>
      <p:sp>
        <p:nvSpPr>
          <p:cNvPr id="22" name="Shape 16"/>
          <p:cNvSpPr/>
          <p:nvPr/>
        </p:nvSpPr>
        <p:spPr>
          <a:xfrm>
            <a:off x="2390686" y="3931920"/>
            <a:ext cx="3483864" cy="1920240"/>
          </a:xfrm>
          <a:prstGeom prst="roundRect">
            <a:avLst>
              <a:gd name="adj" fmla="val 4286"/>
            </a:avLst>
          </a:prstGeom>
          <a:solidFill>
            <a:srgbClr val="EAF1FC"/>
          </a:solidFill>
          <a:ln w="12700">
            <a:solidFill>
              <a:srgbClr val="C9D5EE"/>
            </a:solidFill>
            <a:prstDash val="solid"/>
          </a:ln>
        </p:spPr>
      </p:sp>
      <p:sp>
        <p:nvSpPr>
          <p:cNvPr id="23" name="Shape 17"/>
          <p:cNvSpPr/>
          <p:nvPr/>
        </p:nvSpPr>
        <p:spPr>
          <a:xfrm>
            <a:off x="3721138" y="4187952"/>
            <a:ext cx="822960" cy="822960"/>
          </a:xfrm>
          <a:prstGeom prst="ellipse">
            <a:avLst/>
          </a:prstGeom>
          <a:solidFill>
            <a:srgbClr val="152A6B"/>
          </a:solidFill>
          <a:ln/>
        </p:spPr>
      </p:sp>
      <p:pic>
        <p:nvPicPr>
          <p:cNvPr id="24" name="Image 4" descr="/home/claude/ems_ppt/icons/html5.png"/>
          <p:cNvPicPr>
            <a:picLocks noChangeAspect="1"/>
          </p:cNvPicPr>
          <p:nvPr/>
        </p:nvPicPr>
        <p:blipFill>
          <a:blip r:embed="rId7"/>
          <a:stretch>
            <a:fillRect/>
          </a:stretch>
        </p:blipFill>
        <p:spPr>
          <a:xfrm>
            <a:off x="3926878" y="4393692"/>
            <a:ext cx="411480" cy="411480"/>
          </a:xfrm>
          <a:prstGeom prst="rect">
            <a:avLst/>
          </a:prstGeom>
        </p:spPr>
      </p:pic>
      <p:sp>
        <p:nvSpPr>
          <p:cNvPr id="25" name="Text 18"/>
          <p:cNvSpPr txBox="1"/>
          <p:nvPr/>
        </p:nvSpPr>
        <p:spPr>
          <a:xfrm>
            <a:off x="2527846" y="5102352"/>
            <a:ext cx="3209544" cy="365760"/>
          </a:xfrm>
          <a:prstGeom prst="rect">
            <a:avLst/>
          </a:prstGeom>
          <a:noFill/>
          <a:ln/>
        </p:spPr>
        <p:txBody>
          <a:bodyPr wrap="square" lIns="0" tIns="0" rIns="0" bIns="0" rtlCol="0" anchor="ctr"/>
          <a:lstStyle/>
          <a:p>
            <a:pPr marL="0" indent="0" algn="ctr">
              <a:buNone/>
            </a:pPr>
            <a:r>
              <a:rPr lang="en-US" sz="1350" b="1" dirty="0">
                <a:solidFill>
                  <a:srgbClr val="152A6B"/>
                </a:solidFill>
                <a:latin typeface="Calibri" pitchFamily="34" charset="0"/>
                <a:ea typeface="Calibri" pitchFamily="34" charset="-122"/>
                <a:cs typeface="Calibri" pitchFamily="34" charset="-120"/>
              </a:rPr>
              <a:t>Razor Views</a:t>
            </a:r>
            <a:endParaRPr lang="en-US" sz="1350" dirty="0"/>
          </a:p>
        </p:txBody>
      </p:sp>
      <p:sp>
        <p:nvSpPr>
          <p:cNvPr id="26" name="Text 19"/>
          <p:cNvSpPr txBox="1"/>
          <p:nvPr/>
        </p:nvSpPr>
        <p:spPr>
          <a:xfrm>
            <a:off x="2527846" y="5449824"/>
            <a:ext cx="3209544" cy="365760"/>
          </a:xfrm>
          <a:prstGeom prst="rect">
            <a:avLst/>
          </a:prstGeom>
          <a:noFill/>
          <a:ln/>
        </p:spPr>
        <p:txBody>
          <a:bodyPr wrap="square" lIns="0" tIns="0" rIns="0" bIns="0" rtlCol="0" anchor="ctr"/>
          <a:lstStyle/>
          <a:p>
            <a:pPr marL="0" indent="0" algn="ctr">
              <a:buNone/>
            </a:pPr>
            <a:r>
              <a:rPr lang="en-US" sz="1050" dirty="0">
                <a:solidFill>
                  <a:srgbClr val="5B6584"/>
                </a:solidFill>
                <a:latin typeface="Calibri" pitchFamily="34" charset="0"/>
                <a:ea typeface="Calibri" pitchFamily="34" charset="-122"/>
                <a:cs typeface="Calibri" pitchFamily="34" charset="-120"/>
              </a:rPr>
              <a:t>HTML/CSS with embedded C#</a:t>
            </a:r>
            <a:endParaRPr lang="en-US" sz="1050" dirty="0"/>
          </a:p>
        </p:txBody>
      </p:sp>
      <p:sp>
        <p:nvSpPr>
          <p:cNvPr id="32" name="Shape 24"/>
          <p:cNvSpPr/>
          <p:nvPr/>
        </p:nvSpPr>
        <p:spPr>
          <a:xfrm>
            <a:off x="6221630" y="3931920"/>
            <a:ext cx="3483864" cy="1920240"/>
          </a:xfrm>
          <a:prstGeom prst="roundRect">
            <a:avLst>
              <a:gd name="adj" fmla="val 4286"/>
            </a:avLst>
          </a:prstGeom>
          <a:solidFill>
            <a:srgbClr val="EAF1FC"/>
          </a:solidFill>
          <a:ln w="12700">
            <a:solidFill>
              <a:srgbClr val="C9D5EE"/>
            </a:solidFill>
            <a:prstDash val="solid"/>
          </a:ln>
        </p:spPr>
      </p:sp>
      <p:sp>
        <p:nvSpPr>
          <p:cNvPr id="33" name="Shape 25"/>
          <p:cNvSpPr/>
          <p:nvPr/>
        </p:nvSpPr>
        <p:spPr>
          <a:xfrm>
            <a:off x="7552082" y="4187952"/>
            <a:ext cx="822960" cy="822960"/>
          </a:xfrm>
          <a:prstGeom prst="ellipse">
            <a:avLst/>
          </a:prstGeom>
          <a:solidFill>
            <a:srgbClr val="152A6B"/>
          </a:solidFill>
          <a:ln/>
        </p:spPr>
      </p:sp>
      <p:pic>
        <p:nvPicPr>
          <p:cNvPr id="34" name="Image 6" descr="/home/claude/ems_ppt/icons/vs.png"/>
          <p:cNvPicPr>
            <a:picLocks noChangeAspect="1"/>
          </p:cNvPicPr>
          <p:nvPr/>
        </p:nvPicPr>
        <p:blipFill>
          <a:blip r:embed="rId8"/>
          <a:stretch>
            <a:fillRect/>
          </a:stretch>
        </p:blipFill>
        <p:spPr>
          <a:xfrm>
            <a:off x="7757822" y="4393692"/>
            <a:ext cx="411480" cy="411480"/>
          </a:xfrm>
          <a:prstGeom prst="rect">
            <a:avLst/>
          </a:prstGeom>
        </p:spPr>
      </p:pic>
      <p:sp>
        <p:nvSpPr>
          <p:cNvPr id="35" name="Text 26"/>
          <p:cNvSpPr txBox="1"/>
          <p:nvPr/>
        </p:nvSpPr>
        <p:spPr>
          <a:xfrm>
            <a:off x="6358790" y="5102352"/>
            <a:ext cx="3209544" cy="365760"/>
          </a:xfrm>
          <a:prstGeom prst="rect">
            <a:avLst/>
          </a:prstGeom>
          <a:noFill/>
          <a:ln/>
        </p:spPr>
        <p:txBody>
          <a:bodyPr wrap="square" lIns="0" tIns="0" rIns="0" bIns="0" rtlCol="0" anchor="ctr"/>
          <a:lstStyle/>
          <a:p>
            <a:pPr marL="0" indent="0" algn="ctr">
              <a:buNone/>
            </a:pPr>
            <a:r>
              <a:rPr lang="en-US" sz="1350" b="1" dirty="0">
                <a:solidFill>
                  <a:srgbClr val="152A6B"/>
                </a:solidFill>
                <a:latin typeface="Calibri" pitchFamily="34" charset="0"/>
                <a:ea typeface="Calibri" pitchFamily="34" charset="-122"/>
                <a:cs typeface="Calibri" pitchFamily="34" charset="-120"/>
              </a:rPr>
              <a:t>Visual Studio</a:t>
            </a:r>
            <a:endParaRPr lang="en-US" sz="1350" dirty="0"/>
          </a:p>
        </p:txBody>
      </p:sp>
      <p:sp>
        <p:nvSpPr>
          <p:cNvPr id="36" name="Text 27"/>
          <p:cNvSpPr txBox="1"/>
          <p:nvPr/>
        </p:nvSpPr>
        <p:spPr>
          <a:xfrm>
            <a:off x="6358790" y="5449824"/>
            <a:ext cx="3209544" cy="365760"/>
          </a:xfrm>
          <a:prstGeom prst="rect">
            <a:avLst/>
          </a:prstGeom>
          <a:noFill/>
          <a:ln/>
        </p:spPr>
        <p:txBody>
          <a:bodyPr wrap="square" lIns="0" tIns="0" rIns="0" bIns="0" rtlCol="0" anchor="ctr"/>
          <a:lstStyle/>
          <a:p>
            <a:pPr marL="0" indent="0" algn="ctr">
              <a:buNone/>
            </a:pPr>
            <a:r>
              <a:rPr lang="en-US" sz="1050" dirty="0">
                <a:solidFill>
                  <a:srgbClr val="5B6584"/>
                </a:solidFill>
                <a:latin typeface="Calibri" pitchFamily="34" charset="0"/>
                <a:ea typeface="Calibri" pitchFamily="34" charset="-122"/>
                <a:cs typeface="Calibri" pitchFamily="34" charset="-120"/>
              </a:rPr>
              <a:t>Integrated development environment</a:t>
            </a:r>
            <a:endParaRPr lang="en-US" sz="1050" dirty="0"/>
          </a:p>
        </p:txBody>
      </p:sp>
      <p:sp>
        <p:nvSpPr>
          <p:cNvPr id="37" name="Text 28"/>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8" name="Text 29"/>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System Architecture &amp; Workflow</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arrow_right.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1120140" y="3406140"/>
            <a:ext cx="9948672" cy="0"/>
          </a:xfrm>
          <a:prstGeom prst="line">
            <a:avLst/>
          </a:prstGeom>
          <a:noFill/>
          <a:ln w="38100">
            <a:solidFill>
              <a:srgbClr val="D6E4FA"/>
            </a:solidFill>
            <a:prstDash val="solid"/>
          </a:ln>
        </p:spPr>
      </p:sp>
      <p:sp>
        <p:nvSpPr>
          <p:cNvPr id="8" name="Shape 5"/>
          <p:cNvSpPr/>
          <p:nvPr/>
        </p:nvSpPr>
        <p:spPr>
          <a:xfrm>
            <a:off x="548640" y="2834640"/>
            <a:ext cx="1143000" cy="1143000"/>
          </a:xfrm>
          <a:prstGeom prst="ellipse">
            <a:avLst/>
          </a:prstGeom>
          <a:solidFill>
            <a:srgbClr val="152A6B"/>
          </a:solidFill>
          <a:ln w="38100">
            <a:solidFill>
              <a:srgbClr val="FFFFFF"/>
            </a:solidFill>
            <a:prstDash val="solid"/>
          </a:ln>
        </p:spPr>
      </p:sp>
      <p:pic>
        <p:nvPicPr>
          <p:cNvPr id="9" name="Image 1" descr="/home/claude/ems_ppt/icons/login_flow.png"/>
          <p:cNvPicPr>
            <a:picLocks noChangeAspect="1"/>
          </p:cNvPicPr>
          <p:nvPr/>
        </p:nvPicPr>
        <p:blipFill>
          <a:blip r:embed="rId4"/>
          <a:stretch>
            <a:fillRect/>
          </a:stretch>
        </p:blipFill>
        <p:spPr>
          <a:xfrm>
            <a:off x="868680" y="3154680"/>
            <a:ext cx="502920" cy="502920"/>
          </a:xfrm>
          <a:prstGeom prst="rect">
            <a:avLst/>
          </a:prstGeom>
        </p:spPr>
      </p:pic>
      <p:sp>
        <p:nvSpPr>
          <p:cNvPr id="10" name="Text 6"/>
          <p:cNvSpPr txBox="1"/>
          <p:nvPr/>
        </p:nvSpPr>
        <p:spPr>
          <a:xfrm>
            <a:off x="228600"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Login</a:t>
            </a:r>
            <a:endParaRPr lang="en-US" sz="1150" dirty="0"/>
          </a:p>
        </p:txBody>
      </p:sp>
      <p:sp>
        <p:nvSpPr>
          <p:cNvPr id="11" name="Shape 7"/>
          <p:cNvSpPr/>
          <p:nvPr/>
        </p:nvSpPr>
        <p:spPr>
          <a:xfrm rot="5400000">
            <a:off x="1866900" y="3323844"/>
            <a:ext cx="164592" cy="164592"/>
          </a:xfrm>
          <a:prstGeom prst="triangle">
            <a:avLst/>
          </a:prstGeom>
          <a:solidFill>
            <a:srgbClr val="D6E4FA"/>
          </a:solidFill>
          <a:ln/>
        </p:spPr>
      </p:sp>
      <p:sp>
        <p:nvSpPr>
          <p:cNvPr id="12" name="Shape 8"/>
          <p:cNvSpPr/>
          <p:nvPr/>
        </p:nvSpPr>
        <p:spPr>
          <a:xfrm>
            <a:off x="2206752" y="2834640"/>
            <a:ext cx="1143000" cy="1143000"/>
          </a:xfrm>
          <a:prstGeom prst="ellipse">
            <a:avLst/>
          </a:prstGeom>
          <a:solidFill>
            <a:srgbClr val="2F6FED"/>
          </a:solidFill>
          <a:ln w="38100">
            <a:solidFill>
              <a:srgbClr val="FFFFFF"/>
            </a:solidFill>
            <a:prstDash val="solid"/>
          </a:ln>
        </p:spPr>
      </p:sp>
      <p:pic>
        <p:nvPicPr>
          <p:cNvPr id="13" name="Image 2" descr="/home/claude/ems_ppt/icons/dash_flow.png"/>
          <p:cNvPicPr>
            <a:picLocks noChangeAspect="1"/>
          </p:cNvPicPr>
          <p:nvPr/>
        </p:nvPicPr>
        <p:blipFill>
          <a:blip r:embed="rId5"/>
          <a:stretch>
            <a:fillRect/>
          </a:stretch>
        </p:blipFill>
        <p:spPr>
          <a:xfrm>
            <a:off x="2526792" y="3154680"/>
            <a:ext cx="502920" cy="502920"/>
          </a:xfrm>
          <a:prstGeom prst="rect">
            <a:avLst/>
          </a:prstGeom>
        </p:spPr>
      </p:pic>
      <p:sp>
        <p:nvSpPr>
          <p:cNvPr id="14" name="Text 9"/>
          <p:cNvSpPr txBox="1"/>
          <p:nvPr/>
        </p:nvSpPr>
        <p:spPr>
          <a:xfrm>
            <a:off x="1886712"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Dashboard</a:t>
            </a:r>
            <a:endParaRPr lang="en-US" sz="1150" dirty="0"/>
          </a:p>
        </p:txBody>
      </p:sp>
      <p:sp>
        <p:nvSpPr>
          <p:cNvPr id="15" name="Shape 10"/>
          <p:cNvSpPr/>
          <p:nvPr/>
        </p:nvSpPr>
        <p:spPr>
          <a:xfrm rot="5400000">
            <a:off x="3525012" y="3323844"/>
            <a:ext cx="164592" cy="164592"/>
          </a:xfrm>
          <a:prstGeom prst="triangle">
            <a:avLst/>
          </a:prstGeom>
          <a:solidFill>
            <a:srgbClr val="D6E4FA"/>
          </a:solidFill>
          <a:ln/>
        </p:spPr>
      </p:sp>
      <p:sp>
        <p:nvSpPr>
          <p:cNvPr id="16" name="Shape 11"/>
          <p:cNvSpPr/>
          <p:nvPr/>
        </p:nvSpPr>
        <p:spPr>
          <a:xfrm>
            <a:off x="3864864" y="2834640"/>
            <a:ext cx="1143000" cy="1143000"/>
          </a:xfrm>
          <a:prstGeom prst="ellipse">
            <a:avLst/>
          </a:prstGeom>
          <a:solidFill>
            <a:srgbClr val="152A6B"/>
          </a:solidFill>
          <a:ln w="38100">
            <a:solidFill>
              <a:srgbClr val="FFFFFF"/>
            </a:solidFill>
            <a:prstDash val="solid"/>
          </a:ln>
        </p:spPr>
      </p:sp>
      <p:pic>
        <p:nvPicPr>
          <p:cNvPr id="17" name="Image 3" descr="/home/claude/ems_ppt/icons/emp_flow.png"/>
          <p:cNvPicPr>
            <a:picLocks noChangeAspect="1"/>
          </p:cNvPicPr>
          <p:nvPr/>
        </p:nvPicPr>
        <p:blipFill>
          <a:blip r:embed="rId6"/>
          <a:stretch>
            <a:fillRect/>
          </a:stretch>
        </p:blipFill>
        <p:spPr>
          <a:xfrm>
            <a:off x="4184904" y="3154680"/>
            <a:ext cx="502920" cy="502920"/>
          </a:xfrm>
          <a:prstGeom prst="rect">
            <a:avLst/>
          </a:prstGeom>
        </p:spPr>
      </p:pic>
      <p:sp>
        <p:nvSpPr>
          <p:cNvPr id="18" name="Text 12"/>
          <p:cNvSpPr txBox="1"/>
          <p:nvPr/>
        </p:nvSpPr>
        <p:spPr>
          <a:xfrm>
            <a:off x="3544824"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Employee</a:t>
            </a:r>
            <a:endParaRPr lang="en-US" sz="1150" dirty="0"/>
          </a:p>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Management</a:t>
            </a:r>
            <a:endParaRPr lang="en-US" sz="1150" dirty="0"/>
          </a:p>
        </p:txBody>
      </p:sp>
      <p:sp>
        <p:nvSpPr>
          <p:cNvPr id="19" name="Shape 13"/>
          <p:cNvSpPr/>
          <p:nvPr/>
        </p:nvSpPr>
        <p:spPr>
          <a:xfrm rot="5400000">
            <a:off x="5183124" y="3323844"/>
            <a:ext cx="164592" cy="164592"/>
          </a:xfrm>
          <a:prstGeom prst="triangle">
            <a:avLst/>
          </a:prstGeom>
          <a:solidFill>
            <a:srgbClr val="D6E4FA"/>
          </a:solidFill>
          <a:ln/>
        </p:spPr>
      </p:sp>
      <p:sp>
        <p:nvSpPr>
          <p:cNvPr id="20" name="Shape 14"/>
          <p:cNvSpPr/>
          <p:nvPr/>
        </p:nvSpPr>
        <p:spPr>
          <a:xfrm>
            <a:off x="5522976" y="2834640"/>
            <a:ext cx="1143000" cy="1143000"/>
          </a:xfrm>
          <a:prstGeom prst="ellipse">
            <a:avLst/>
          </a:prstGeom>
          <a:solidFill>
            <a:srgbClr val="2F6FED"/>
          </a:solidFill>
          <a:ln w="38100">
            <a:solidFill>
              <a:srgbClr val="FFFFFF"/>
            </a:solidFill>
            <a:prstDash val="solid"/>
          </a:ln>
        </p:spPr>
      </p:sp>
      <p:pic>
        <p:nvPicPr>
          <p:cNvPr id="21" name="Image 4" descr="/home/claude/ems_ppt/icons/att_flow.png"/>
          <p:cNvPicPr>
            <a:picLocks noChangeAspect="1"/>
          </p:cNvPicPr>
          <p:nvPr/>
        </p:nvPicPr>
        <p:blipFill>
          <a:blip r:embed="rId7"/>
          <a:stretch>
            <a:fillRect/>
          </a:stretch>
        </p:blipFill>
        <p:spPr>
          <a:xfrm>
            <a:off x="5843016" y="3154680"/>
            <a:ext cx="502920" cy="502920"/>
          </a:xfrm>
          <a:prstGeom prst="rect">
            <a:avLst/>
          </a:prstGeom>
        </p:spPr>
      </p:pic>
      <p:sp>
        <p:nvSpPr>
          <p:cNvPr id="22" name="Text 15"/>
          <p:cNvSpPr txBox="1"/>
          <p:nvPr/>
        </p:nvSpPr>
        <p:spPr>
          <a:xfrm>
            <a:off x="5202936"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Attendance</a:t>
            </a:r>
            <a:endParaRPr lang="en-US" sz="1150" dirty="0"/>
          </a:p>
        </p:txBody>
      </p:sp>
      <p:sp>
        <p:nvSpPr>
          <p:cNvPr id="23" name="Shape 16"/>
          <p:cNvSpPr/>
          <p:nvPr/>
        </p:nvSpPr>
        <p:spPr>
          <a:xfrm rot="5400000">
            <a:off x="6841236" y="3323844"/>
            <a:ext cx="164592" cy="164592"/>
          </a:xfrm>
          <a:prstGeom prst="triangle">
            <a:avLst/>
          </a:prstGeom>
          <a:solidFill>
            <a:srgbClr val="D6E4FA"/>
          </a:solidFill>
          <a:ln/>
        </p:spPr>
      </p:sp>
      <p:sp>
        <p:nvSpPr>
          <p:cNvPr id="24" name="Shape 17"/>
          <p:cNvSpPr/>
          <p:nvPr/>
        </p:nvSpPr>
        <p:spPr>
          <a:xfrm>
            <a:off x="7181088" y="2834640"/>
            <a:ext cx="1143000" cy="1143000"/>
          </a:xfrm>
          <a:prstGeom prst="ellipse">
            <a:avLst/>
          </a:prstGeom>
          <a:solidFill>
            <a:srgbClr val="152A6B"/>
          </a:solidFill>
          <a:ln w="38100">
            <a:solidFill>
              <a:srgbClr val="FFFFFF"/>
            </a:solidFill>
            <a:prstDash val="solid"/>
          </a:ln>
        </p:spPr>
      </p:sp>
      <p:pic>
        <p:nvPicPr>
          <p:cNvPr id="25" name="Image 5" descr="/home/claude/ems_ppt/icons/leave_flow.png"/>
          <p:cNvPicPr>
            <a:picLocks noChangeAspect="1"/>
          </p:cNvPicPr>
          <p:nvPr/>
        </p:nvPicPr>
        <p:blipFill>
          <a:blip r:embed="rId8"/>
          <a:stretch>
            <a:fillRect/>
          </a:stretch>
        </p:blipFill>
        <p:spPr>
          <a:xfrm>
            <a:off x="7501128" y="3154680"/>
            <a:ext cx="502920" cy="502920"/>
          </a:xfrm>
          <a:prstGeom prst="rect">
            <a:avLst/>
          </a:prstGeom>
        </p:spPr>
      </p:pic>
      <p:sp>
        <p:nvSpPr>
          <p:cNvPr id="26" name="Text 18"/>
          <p:cNvSpPr txBox="1"/>
          <p:nvPr/>
        </p:nvSpPr>
        <p:spPr>
          <a:xfrm>
            <a:off x="6861048"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Leave</a:t>
            </a:r>
            <a:endParaRPr lang="en-US" sz="1150" dirty="0"/>
          </a:p>
        </p:txBody>
      </p:sp>
      <p:sp>
        <p:nvSpPr>
          <p:cNvPr id="27" name="Shape 19"/>
          <p:cNvSpPr/>
          <p:nvPr/>
        </p:nvSpPr>
        <p:spPr>
          <a:xfrm rot="5400000">
            <a:off x="8499348" y="3323844"/>
            <a:ext cx="164592" cy="164592"/>
          </a:xfrm>
          <a:prstGeom prst="triangle">
            <a:avLst/>
          </a:prstGeom>
          <a:solidFill>
            <a:srgbClr val="D6E4FA"/>
          </a:solidFill>
          <a:ln/>
        </p:spPr>
      </p:sp>
      <p:sp>
        <p:nvSpPr>
          <p:cNvPr id="28" name="Shape 20"/>
          <p:cNvSpPr/>
          <p:nvPr/>
        </p:nvSpPr>
        <p:spPr>
          <a:xfrm>
            <a:off x="8839200" y="2834640"/>
            <a:ext cx="1143000" cy="1143000"/>
          </a:xfrm>
          <a:prstGeom prst="ellipse">
            <a:avLst/>
          </a:prstGeom>
          <a:solidFill>
            <a:srgbClr val="2F6FED"/>
          </a:solidFill>
          <a:ln w="38100">
            <a:solidFill>
              <a:srgbClr val="FFFFFF"/>
            </a:solidFill>
            <a:prstDash val="solid"/>
          </a:ln>
        </p:spPr>
      </p:sp>
      <p:pic>
        <p:nvPicPr>
          <p:cNvPr id="29" name="Image 6" descr="/home/claude/ems_ppt/icons/payroll_flow.png"/>
          <p:cNvPicPr>
            <a:picLocks noChangeAspect="1"/>
          </p:cNvPicPr>
          <p:nvPr/>
        </p:nvPicPr>
        <p:blipFill>
          <a:blip r:embed="rId9"/>
          <a:stretch>
            <a:fillRect/>
          </a:stretch>
        </p:blipFill>
        <p:spPr>
          <a:xfrm>
            <a:off x="9159240" y="3154680"/>
            <a:ext cx="502920" cy="502920"/>
          </a:xfrm>
          <a:prstGeom prst="rect">
            <a:avLst/>
          </a:prstGeom>
        </p:spPr>
      </p:pic>
      <p:sp>
        <p:nvSpPr>
          <p:cNvPr id="30" name="Text 21"/>
          <p:cNvSpPr txBox="1"/>
          <p:nvPr/>
        </p:nvSpPr>
        <p:spPr>
          <a:xfrm>
            <a:off x="8519160"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Payroll</a:t>
            </a:r>
            <a:endParaRPr lang="en-US" sz="1150" dirty="0"/>
          </a:p>
        </p:txBody>
      </p:sp>
      <p:sp>
        <p:nvSpPr>
          <p:cNvPr id="31" name="Shape 22"/>
          <p:cNvSpPr/>
          <p:nvPr/>
        </p:nvSpPr>
        <p:spPr>
          <a:xfrm rot="5400000">
            <a:off x="10157460" y="3323844"/>
            <a:ext cx="164592" cy="164592"/>
          </a:xfrm>
          <a:prstGeom prst="triangle">
            <a:avLst/>
          </a:prstGeom>
          <a:solidFill>
            <a:srgbClr val="D6E4FA"/>
          </a:solidFill>
          <a:ln/>
        </p:spPr>
      </p:sp>
      <p:sp>
        <p:nvSpPr>
          <p:cNvPr id="32" name="Shape 23"/>
          <p:cNvSpPr/>
          <p:nvPr/>
        </p:nvSpPr>
        <p:spPr>
          <a:xfrm>
            <a:off x="10497312" y="2834640"/>
            <a:ext cx="1143000" cy="1143000"/>
          </a:xfrm>
          <a:prstGeom prst="ellipse">
            <a:avLst/>
          </a:prstGeom>
          <a:solidFill>
            <a:srgbClr val="152A6B"/>
          </a:solidFill>
          <a:ln w="38100">
            <a:solidFill>
              <a:srgbClr val="FFFFFF"/>
            </a:solidFill>
            <a:prstDash val="solid"/>
          </a:ln>
        </p:spPr>
      </p:sp>
      <p:pic>
        <p:nvPicPr>
          <p:cNvPr id="33" name="Image 7" descr="/home/claude/ems_ppt/icons/report_flow.png"/>
          <p:cNvPicPr>
            <a:picLocks noChangeAspect="1"/>
          </p:cNvPicPr>
          <p:nvPr/>
        </p:nvPicPr>
        <p:blipFill>
          <a:blip r:embed="rId10"/>
          <a:stretch>
            <a:fillRect/>
          </a:stretch>
        </p:blipFill>
        <p:spPr>
          <a:xfrm>
            <a:off x="10817352" y="3154680"/>
            <a:ext cx="502920" cy="502920"/>
          </a:xfrm>
          <a:prstGeom prst="rect">
            <a:avLst/>
          </a:prstGeom>
        </p:spPr>
      </p:pic>
      <p:sp>
        <p:nvSpPr>
          <p:cNvPr id="34" name="Text 24"/>
          <p:cNvSpPr txBox="1"/>
          <p:nvPr/>
        </p:nvSpPr>
        <p:spPr>
          <a:xfrm>
            <a:off x="10177272" y="4142232"/>
            <a:ext cx="1783080" cy="548640"/>
          </a:xfrm>
          <a:prstGeom prst="rect">
            <a:avLst/>
          </a:prstGeom>
          <a:noFill/>
          <a:ln/>
        </p:spPr>
        <p:txBody>
          <a:bodyPr wrap="square" lIns="0" tIns="0" rIns="0" bIns="0" rtlCol="0" anchor="t"/>
          <a:lstStyle/>
          <a:p>
            <a:pPr marL="0" indent="0" algn="ctr">
              <a:lnSpc>
                <a:spcPts val="1400"/>
              </a:lnSpc>
              <a:buNone/>
            </a:pPr>
            <a:r>
              <a:rPr lang="en-US" sz="1150" b="1" dirty="0">
                <a:solidFill>
                  <a:srgbClr val="152A6B"/>
                </a:solidFill>
                <a:latin typeface="Calibri" pitchFamily="34" charset="0"/>
                <a:ea typeface="Calibri" pitchFamily="34" charset="-122"/>
                <a:cs typeface="Calibri" pitchFamily="34" charset="-120"/>
              </a:rPr>
              <a:t>Reports</a:t>
            </a:r>
            <a:endParaRPr lang="en-US" sz="1150" dirty="0"/>
          </a:p>
        </p:txBody>
      </p:sp>
      <p:sp>
        <p:nvSpPr>
          <p:cNvPr id="35" name="Shape 25"/>
          <p:cNvSpPr/>
          <p:nvPr/>
        </p:nvSpPr>
        <p:spPr>
          <a:xfrm>
            <a:off x="548640" y="5074920"/>
            <a:ext cx="11091672" cy="1051560"/>
          </a:xfrm>
          <a:prstGeom prst="roundRect">
            <a:avLst>
              <a:gd name="adj" fmla="val 6957"/>
            </a:avLst>
          </a:prstGeom>
          <a:solidFill>
            <a:srgbClr val="EAF1FC"/>
          </a:solidFill>
          <a:ln w="12700">
            <a:solidFill>
              <a:srgbClr val="C9D5EE"/>
            </a:solidFill>
            <a:prstDash val="solid"/>
          </a:ln>
        </p:spPr>
      </p:sp>
      <p:sp>
        <p:nvSpPr>
          <p:cNvPr id="36" name="Text 26"/>
          <p:cNvSpPr txBox="1"/>
          <p:nvPr/>
        </p:nvSpPr>
        <p:spPr>
          <a:xfrm>
            <a:off x="868680" y="5212080"/>
            <a:ext cx="10469880" cy="822960"/>
          </a:xfrm>
          <a:prstGeom prst="rect">
            <a:avLst/>
          </a:prstGeom>
          <a:noFill/>
          <a:ln/>
        </p:spPr>
        <p:txBody>
          <a:bodyPr wrap="square" lIns="0" tIns="0" rIns="0" bIns="0" rtlCol="0" anchor="ctr"/>
          <a:lstStyle/>
          <a:p>
            <a:pPr marL="0" indent="0">
              <a:buNone/>
            </a:pPr>
            <a:r>
              <a:rPr lang="en-US" sz="1250" i="1" dirty="0">
                <a:solidFill>
                  <a:srgbClr val="1B2340"/>
                </a:solidFill>
                <a:latin typeface="Calibri" pitchFamily="34" charset="0"/>
                <a:ea typeface="Calibri" pitchFamily="34" charset="-122"/>
                <a:cs typeface="Calibri" pitchFamily="34" charset="-120"/>
              </a:rPr>
              <a:t>The user authenticates through a secure login, lands on a role-based dashboard, then navigates through Employee, Attendance, Leave and Payroll modules — all summarized in the Reports module for management insight.</a:t>
            </a:r>
            <a:endParaRPr lang="en-US" sz="1250" dirty="0"/>
          </a:p>
        </p:txBody>
      </p:sp>
      <p:sp>
        <p:nvSpPr>
          <p:cNvPr id="37" name="Text 27"/>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8" name="Text 28"/>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DATA LAYER</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Database Design</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database.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Text 4"/>
          <p:cNvSpPr txBox="1"/>
          <p:nvPr/>
        </p:nvSpPr>
        <p:spPr>
          <a:xfrm>
            <a:off x="548640" y="1554480"/>
            <a:ext cx="7315200" cy="365760"/>
          </a:xfrm>
          <a:prstGeom prst="rect">
            <a:avLst/>
          </a:prstGeom>
          <a:noFill/>
          <a:ln/>
        </p:spPr>
        <p:txBody>
          <a:bodyPr wrap="square" lIns="0" tIns="0" rIns="0" bIns="0" rtlCol="0" anchor="ctr"/>
          <a:lstStyle/>
          <a:p>
            <a:pPr marL="0" indent="0">
              <a:buNone/>
            </a:pPr>
            <a:r>
              <a:rPr lang="en-US" sz="1600" b="1" dirty="0">
                <a:solidFill>
                  <a:srgbClr val="152A6B"/>
                </a:solidFill>
                <a:latin typeface="Cambria" pitchFamily="34" charset="0"/>
                <a:ea typeface="Cambria" pitchFamily="34" charset="-122"/>
                <a:cs typeface="Cambria" pitchFamily="34" charset="-120"/>
              </a:rPr>
              <a:t>Core Entities (ERD Overview)</a:t>
            </a:r>
            <a:endParaRPr lang="en-US" sz="1600" dirty="0"/>
          </a:p>
        </p:txBody>
      </p:sp>
      <p:sp>
        <p:nvSpPr>
          <p:cNvPr id="38" name="Text 30"/>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9" name="Text 31"/>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
        <p:nvSpPr>
          <p:cNvPr id="41" name="AutoShape 4" descr="blob:https://web.whatsapp.com/c769a8bb-4f5b-4988-a107-74ca88b006c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5" name="Picture 4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1374" y="1920240"/>
            <a:ext cx="7919219" cy="43067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MODULE 01</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Login &amp; Dashboard Module</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lock.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Text 4"/>
          <p:cNvSpPr txBox="1"/>
          <p:nvPr/>
        </p:nvSpPr>
        <p:spPr>
          <a:xfrm>
            <a:off x="548640" y="1645920"/>
            <a:ext cx="4480560" cy="320040"/>
          </a:xfrm>
          <a:prstGeom prst="rect">
            <a:avLst/>
          </a:prstGeom>
          <a:noFill/>
          <a:ln/>
        </p:spPr>
        <p:txBody>
          <a:bodyPr wrap="square" lIns="0" tIns="0" rIns="0" bIns="0" rtlCol="0" anchor="ctr"/>
          <a:lstStyle/>
          <a:p>
            <a:pPr marL="0" indent="0">
              <a:buNone/>
            </a:pPr>
            <a:r>
              <a:rPr lang="en-US" sz="1600" b="1" dirty="0">
                <a:solidFill>
                  <a:srgbClr val="152A6B"/>
                </a:solidFill>
                <a:latin typeface="Cambria" pitchFamily="34" charset="0"/>
                <a:ea typeface="Cambria" pitchFamily="34" charset="-122"/>
                <a:cs typeface="Cambria" pitchFamily="34" charset="-120"/>
              </a:rPr>
              <a:t>Features</a:t>
            </a:r>
            <a:endParaRPr lang="en-US" sz="1600" dirty="0"/>
          </a:p>
        </p:txBody>
      </p:sp>
      <p:sp>
        <p:nvSpPr>
          <p:cNvPr id="8" name="Text 5"/>
          <p:cNvSpPr txBox="1"/>
          <p:nvPr/>
        </p:nvSpPr>
        <p:spPr>
          <a:xfrm>
            <a:off x="548640" y="2011680"/>
            <a:ext cx="4480560" cy="1645920"/>
          </a:xfrm>
          <a:prstGeom prst="rect">
            <a:avLst/>
          </a:prstGeom>
          <a:noFill/>
          <a:ln/>
        </p:spPr>
        <p:txBody>
          <a:bodyPr wrap="square" lIns="0" tIns="0" rIns="0" bIns="0" rtlCol="0" anchor="t"/>
          <a:lstStyle/>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Secure authentication with hashed credentials</a:t>
            </a:r>
            <a:endParaRPr lang="en-US" sz="1300" dirty="0"/>
          </a:p>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Role-based access (Admin / HR / Employee)</a:t>
            </a:r>
            <a:endParaRPr lang="en-US" sz="1300" dirty="0"/>
          </a:p>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At-a-glance summary widgets &amp; quick stats</a:t>
            </a:r>
            <a:endParaRPr lang="en-US" sz="1300" dirty="0"/>
          </a:p>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Quick navigation to all core modules</a:t>
            </a:r>
            <a:endParaRPr lang="en-US" sz="1300" dirty="0"/>
          </a:p>
        </p:txBody>
      </p:sp>
      <p:sp>
        <p:nvSpPr>
          <p:cNvPr id="9" name="Text 6"/>
          <p:cNvSpPr txBox="1"/>
          <p:nvPr/>
        </p:nvSpPr>
        <p:spPr>
          <a:xfrm>
            <a:off x="548640" y="3794760"/>
            <a:ext cx="4480560" cy="320040"/>
          </a:xfrm>
          <a:prstGeom prst="rect">
            <a:avLst/>
          </a:prstGeom>
          <a:noFill/>
          <a:ln/>
        </p:spPr>
        <p:txBody>
          <a:bodyPr wrap="square" lIns="0" tIns="0" rIns="0" bIns="0" rtlCol="0" anchor="ctr"/>
          <a:lstStyle/>
          <a:p>
            <a:pPr marL="0" indent="0">
              <a:buNone/>
            </a:pPr>
            <a:r>
              <a:rPr lang="en-US" sz="1600" b="1" dirty="0">
                <a:solidFill>
                  <a:srgbClr val="152A6B"/>
                </a:solidFill>
                <a:latin typeface="Cambria" pitchFamily="34" charset="0"/>
                <a:ea typeface="Cambria" pitchFamily="34" charset="-122"/>
                <a:cs typeface="Cambria" pitchFamily="34" charset="-120"/>
              </a:rPr>
              <a:t>Benefits</a:t>
            </a:r>
            <a:endParaRPr lang="en-US" sz="1600" dirty="0"/>
          </a:p>
        </p:txBody>
      </p:sp>
      <p:sp>
        <p:nvSpPr>
          <p:cNvPr id="10" name="Text 7"/>
          <p:cNvSpPr txBox="1"/>
          <p:nvPr/>
        </p:nvSpPr>
        <p:spPr>
          <a:xfrm>
            <a:off x="548640" y="4160520"/>
            <a:ext cx="4480560" cy="1645920"/>
          </a:xfrm>
          <a:prstGeom prst="rect">
            <a:avLst/>
          </a:prstGeom>
          <a:noFill/>
          <a:ln/>
        </p:spPr>
        <p:txBody>
          <a:bodyPr wrap="square" lIns="0" tIns="0" rIns="0" bIns="0" rtlCol="0" anchor="t"/>
          <a:lstStyle/>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Protects sensitive HR data from unauthorized access</a:t>
            </a:r>
            <a:endParaRPr lang="en-US" sz="1300" dirty="0"/>
          </a:p>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Gives managers instant visibility into workforce status</a:t>
            </a:r>
            <a:endParaRPr lang="en-US" sz="1300" dirty="0"/>
          </a:p>
          <a:p>
            <a:pPr marL="228600" indent="-228600" algn="l">
              <a:spcAft>
                <a:spcPts val="1000"/>
              </a:spcAft>
              <a:buSzPct val="100000"/>
              <a:buChar char="✦"/>
            </a:pPr>
            <a:r>
              <a:rPr lang="en-US" sz="1300" dirty="0">
                <a:solidFill>
                  <a:srgbClr val="1B2340"/>
                </a:solidFill>
                <a:latin typeface="Calibri" pitchFamily="34" charset="0"/>
                <a:ea typeface="Calibri" pitchFamily="34" charset="-122"/>
                <a:cs typeface="Calibri" pitchFamily="34" charset="-120"/>
              </a:rPr>
              <a:t>Reduces time spent locating information</a:t>
            </a:r>
            <a:endParaRPr lang="en-US" sz="1300" dirty="0"/>
          </a:p>
        </p:txBody>
      </p:sp>
      <p:sp>
        <p:nvSpPr>
          <p:cNvPr id="17" name="Text 12"/>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18" name="Text 13"/>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pic>
        <p:nvPicPr>
          <p:cNvPr id="19" name="Picture 18"/>
          <p:cNvPicPr>
            <a:picLocks noChangeAspect="1"/>
          </p:cNvPicPr>
          <p:nvPr/>
        </p:nvPicPr>
        <p:blipFill>
          <a:blip r:embed="rId4"/>
          <a:stretch>
            <a:fillRect/>
          </a:stretch>
        </p:blipFill>
        <p:spPr>
          <a:xfrm>
            <a:off x="5532120" y="1499616"/>
            <a:ext cx="5277952" cy="2295144"/>
          </a:xfrm>
          <a:prstGeom prst="rect">
            <a:avLst/>
          </a:prstGeom>
        </p:spPr>
      </p:pic>
      <p:pic>
        <p:nvPicPr>
          <p:cNvPr id="20" name="Picture 19"/>
          <p:cNvPicPr>
            <a:picLocks noChangeAspect="1"/>
          </p:cNvPicPr>
          <p:nvPr/>
        </p:nvPicPr>
        <p:blipFill>
          <a:blip r:embed="rId5"/>
          <a:stretch>
            <a:fillRect/>
          </a:stretch>
        </p:blipFill>
        <p:spPr>
          <a:xfrm>
            <a:off x="5530309" y="3949092"/>
            <a:ext cx="5245877" cy="24517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MODULE 02</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Employee &amp; Department Management</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user_plus.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91640"/>
            <a:ext cx="2103120" cy="1234440"/>
          </a:xfrm>
          <a:prstGeom prst="roundRect">
            <a:avLst>
              <a:gd name="adj" fmla="val 6667"/>
            </a:avLst>
          </a:prstGeom>
          <a:solidFill>
            <a:srgbClr val="152A6B"/>
          </a:solidFill>
          <a:ln/>
        </p:spPr>
      </p:sp>
      <p:sp>
        <p:nvSpPr>
          <p:cNvPr id="8" name="Shape 5"/>
          <p:cNvSpPr/>
          <p:nvPr/>
        </p:nvSpPr>
        <p:spPr>
          <a:xfrm>
            <a:off x="1307592" y="1856232"/>
            <a:ext cx="585216" cy="585216"/>
          </a:xfrm>
          <a:prstGeom prst="ellipse">
            <a:avLst/>
          </a:prstGeom>
          <a:solidFill>
            <a:srgbClr val="2F6FED"/>
          </a:solidFill>
          <a:ln/>
        </p:spPr>
      </p:sp>
      <p:pic>
        <p:nvPicPr>
          <p:cNvPr id="9" name="Image 1" descr="/home/claude/ems_ppt/icons/user_plus.png"/>
          <p:cNvPicPr>
            <a:picLocks noChangeAspect="1"/>
          </p:cNvPicPr>
          <p:nvPr/>
        </p:nvPicPr>
        <p:blipFill>
          <a:blip r:embed="rId3"/>
          <a:stretch>
            <a:fillRect/>
          </a:stretch>
        </p:blipFill>
        <p:spPr>
          <a:xfrm>
            <a:off x="1448044" y="1996684"/>
            <a:ext cx="304312" cy="304312"/>
          </a:xfrm>
          <a:prstGeom prst="rect">
            <a:avLst/>
          </a:prstGeom>
        </p:spPr>
      </p:pic>
      <p:sp>
        <p:nvSpPr>
          <p:cNvPr id="10" name="Text 6"/>
          <p:cNvSpPr txBox="1"/>
          <p:nvPr/>
        </p:nvSpPr>
        <p:spPr>
          <a:xfrm>
            <a:off x="640080" y="2532888"/>
            <a:ext cx="1920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Add Employee</a:t>
            </a:r>
            <a:endParaRPr lang="en-US" sz="1100" dirty="0"/>
          </a:p>
        </p:txBody>
      </p:sp>
      <p:sp>
        <p:nvSpPr>
          <p:cNvPr id="11" name="Shape 7"/>
          <p:cNvSpPr/>
          <p:nvPr/>
        </p:nvSpPr>
        <p:spPr>
          <a:xfrm>
            <a:off x="2798064" y="1691640"/>
            <a:ext cx="2103120" cy="1234440"/>
          </a:xfrm>
          <a:prstGeom prst="roundRect">
            <a:avLst>
              <a:gd name="adj" fmla="val 6667"/>
            </a:avLst>
          </a:prstGeom>
          <a:solidFill>
            <a:srgbClr val="152A6B"/>
          </a:solidFill>
          <a:ln/>
        </p:spPr>
      </p:sp>
      <p:sp>
        <p:nvSpPr>
          <p:cNvPr id="12" name="Shape 8"/>
          <p:cNvSpPr/>
          <p:nvPr/>
        </p:nvSpPr>
        <p:spPr>
          <a:xfrm>
            <a:off x="3557016" y="1856232"/>
            <a:ext cx="585216" cy="585216"/>
          </a:xfrm>
          <a:prstGeom prst="ellipse">
            <a:avLst/>
          </a:prstGeom>
          <a:solidFill>
            <a:srgbClr val="2F6FED"/>
          </a:solidFill>
          <a:ln/>
        </p:spPr>
      </p:sp>
      <p:pic>
        <p:nvPicPr>
          <p:cNvPr id="13" name="Image 2" descr="/home/claude/ems_ppt/icons/user_edit.png"/>
          <p:cNvPicPr>
            <a:picLocks noChangeAspect="1"/>
          </p:cNvPicPr>
          <p:nvPr/>
        </p:nvPicPr>
        <p:blipFill>
          <a:blip r:embed="rId4"/>
          <a:stretch>
            <a:fillRect/>
          </a:stretch>
        </p:blipFill>
        <p:spPr>
          <a:xfrm>
            <a:off x="3697468" y="1996684"/>
            <a:ext cx="304312" cy="304312"/>
          </a:xfrm>
          <a:prstGeom prst="rect">
            <a:avLst/>
          </a:prstGeom>
        </p:spPr>
      </p:pic>
      <p:sp>
        <p:nvSpPr>
          <p:cNvPr id="14" name="Text 9"/>
          <p:cNvSpPr txBox="1"/>
          <p:nvPr/>
        </p:nvSpPr>
        <p:spPr>
          <a:xfrm>
            <a:off x="2889504" y="2532888"/>
            <a:ext cx="1920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Edit Employee</a:t>
            </a:r>
            <a:endParaRPr lang="en-US" sz="1100" dirty="0"/>
          </a:p>
        </p:txBody>
      </p:sp>
      <p:sp>
        <p:nvSpPr>
          <p:cNvPr id="15" name="Shape 10"/>
          <p:cNvSpPr/>
          <p:nvPr/>
        </p:nvSpPr>
        <p:spPr>
          <a:xfrm>
            <a:off x="5047488" y="1691640"/>
            <a:ext cx="2103120" cy="1234440"/>
          </a:xfrm>
          <a:prstGeom prst="roundRect">
            <a:avLst>
              <a:gd name="adj" fmla="val 6667"/>
            </a:avLst>
          </a:prstGeom>
          <a:solidFill>
            <a:srgbClr val="152A6B"/>
          </a:solidFill>
          <a:ln/>
        </p:spPr>
      </p:sp>
      <p:sp>
        <p:nvSpPr>
          <p:cNvPr id="16" name="Shape 11"/>
          <p:cNvSpPr/>
          <p:nvPr/>
        </p:nvSpPr>
        <p:spPr>
          <a:xfrm>
            <a:off x="5806440" y="1856232"/>
            <a:ext cx="585216" cy="585216"/>
          </a:xfrm>
          <a:prstGeom prst="ellipse">
            <a:avLst/>
          </a:prstGeom>
          <a:solidFill>
            <a:srgbClr val="2F6FED"/>
          </a:solidFill>
          <a:ln/>
        </p:spPr>
      </p:sp>
      <p:pic>
        <p:nvPicPr>
          <p:cNvPr id="17" name="Image 3" descr="/home/claude/ems_ppt/icons/user_view.png"/>
          <p:cNvPicPr>
            <a:picLocks noChangeAspect="1"/>
          </p:cNvPicPr>
          <p:nvPr/>
        </p:nvPicPr>
        <p:blipFill>
          <a:blip r:embed="rId5"/>
          <a:stretch>
            <a:fillRect/>
          </a:stretch>
        </p:blipFill>
        <p:spPr>
          <a:xfrm>
            <a:off x="5946892" y="1996684"/>
            <a:ext cx="304312" cy="304312"/>
          </a:xfrm>
          <a:prstGeom prst="rect">
            <a:avLst/>
          </a:prstGeom>
        </p:spPr>
      </p:pic>
      <p:sp>
        <p:nvSpPr>
          <p:cNvPr id="18" name="Text 12"/>
          <p:cNvSpPr txBox="1"/>
          <p:nvPr/>
        </p:nvSpPr>
        <p:spPr>
          <a:xfrm>
            <a:off x="5138928" y="2532888"/>
            <a:ext cx="1920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View Employee</a:t>
            </a:r>
            <a:endParaRPr lang="en-US" sz="1100" dirty="0"/>
          </a:p>
        </p:txBody>
      </p:sp>
      <p:sp>
        <p:nvSpPr>
          <p:cNvPr id="19" name="Shape 13"/>
          <p:cNvSpPr/>
          <p:nvPr/>
        </p:nvSpPr>
        <p:spPr>
          <a:xfrm>
            <a:off x="7296912" y="1691640"/>
            <a:ext cx="2103120" cy="1234440"/>
          </a:xfrm>
          <a:prstGeom prst="roundRect">
            <a:avLst>
              <a:gd name="adj" fmla="val 6667"/>
            </a:avLst>
          </a:prstGeom>
          <a:solidFill>
            <a:srgbClr val="152A6B"/>
          </a:solidFill>
          <a:ln/>
        </p:spPr>
      </p:sp>
      <p:sp>
        <p:nvSpPr>
          <p:cNvPr id="20" name="Shape 14"/>
          <p:cNvSpPr/>
          <p:nvPr/>
        </p:nvSpPr>
        <p:spPr>
          <a:xfrm>
            <a:off x="8055864" y="1856232"/>
            <a:ext cx="585216" cy="585216"/>
          </a:xfrm>
          <a:prstGeom prst="ellipse">
            <a:avLst/>
          </a:prstGeom>
          <a:solidFill>
            <a:srgbClr val="2F6FED"/>
          </a:solidFill>
          <a:ln/>
        </p:spPr>
      </p:sp>
      <p:pic>
        <p:nvPicPr>
          <p:cNvPr id="21" name="Image 4" descr="/home/claude/ems_ppt/icons/user_term.png"/>
          <p:cNvPicPr>
            <a:picLocks noChangeAspect="1"/>
          </p:cNvPicPr>
          <p:nvPr/>
        </p:nvPicPr>
        <p:blipFill>
          <a:blip r:embed="rId6"/>
          <a:stretch>
            <a:fillRect/>
          </a:stretch>
        </p:blipFill>
        <p:spPr>
          <a:xfrm>
            <a:off x="8196316" y="1996684"/>
            <a:ext cx="304312" cy="304312"/>
          </a:xfrm>
          <a:prstGeom prst="rect">
            <a:avLst/>
          </a:prstGeom>
        </p:spPr>
      </p:pic>
      <p:sp>
        <p:nvSpPr>
          <p:cNvPr id="22" name="Text 15"/>
          <p:cNvSpPr txBox="1"/>
          <p:nvPr/>
        </p:nvSpPr>
        <p:spPr>
          <a:xfrm>
            <a:off x="7388352" y="2532888"/>
            <a:ext cx="1920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Terminate Employee</a:t>
            </a:r>
            <a:endParaRPr lang="en-US" sz="1100" dirty="0"/>
          </a:p>
        </p:txBody>
      </p:sp>
      <p:sp>
        <p:nvSpPr>
          <p:cNvPr id="23" name="Shape 16"/>
          <p:cNvSpPr/>
          <p:nvPr/>
        </p:nvSpPr>
        <p:spPr>
          <a:xfrm>
            <a:off x="9546336" y="1691640"/>
            <a:ext cx="2103120" cy="1234440"/>
          </a:xfrm>
          <a:prstGeom prst="roundRect">
            <a:avLst>
              <a:gd name="adj" fmla="val 6667"/>
            </a:avLst>
          </a:prstGeom>
          <a:solidFill>
            <a:srgbClr val="152A6B"/>
          </a:solidFill>
          <a:ln/>
        </p:spPr>
      </p:sp>
      <p:sp>
        <p:nvSpPr>
          <p:cNvPr id="24" name="Shape 17"/>
          <p:cNvSpPr/>
          <p:nvPr/>
        </p:nvSpPr>
        <p:spPr>
          <a:xfrm>
            <a:off x="10305288" y="1856232"/>
            <a:ext cx="585216" cy="585216"/>
          </a:xfrm>
          <a:prstGeom prst="ellipse">
            <a:avLst/>
          </a:prstGeom>
          <a:solidFill>
            <a:srgbClr val="2F6FED"/>
          </a:solidFill>
          <a:ln/>
        </p:spPr>
      </p:sp>
      <p:pic>
        <p:nvPicPr>
          <p:cNvPr id="25" name="Image 5" descr="/home/claude/ems_ppt/icons/dept_manage.png"/>
          <p:cNvPicPr>
            <a:picLocks noChangeAspect="1"/>
          </p:cNvPicPr>
          <p:nvPr/>
        </p:nvPicPr>
        <p:blipFill>
          <a:blip r:embed="rId7"/>
          <a:stretch>
            <a:fillRect/>
          </a:stretch>
        </p:blipFill>
        <p:spPr>
          <a:xfrm>
            <a:off x="10445740" y="1996684"/>
            <a:ext cx="304312" cy="304312"/>
          </a:xfrm>
          <a:prstGeom prst="rect">
            <a:avLst/>
          </a:prstGeom>
        </p:spPr>
      </p:pic>
      <p:sp>
        <p:nvSpPr>
          <p:cNvPr id="26" name="Text 18"/>
          <p:cNvSpPr txBox="1"/>
          <p:nvPr/>
        </p:nvSpPr>
        <p:spPr>
          <a:xfrm>
            <a:off x="9637776" y="2532888"/>
            <a:ext cx="19202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Manage Departments</a:t>
            </a:r>
            <a:endParaRPr lang="en-US" sz="1100" dirty="0"/>
          </a:p>
        </p:txBody>
      </p:sp>
      <p:sp>
        <p:nvSpPr>
          <p:cNvPr id="36" name="Text 25"/>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7" name="Text 26"/>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pic>
        <p:nvPicPr>
          <p:cNvPr id="39" name="Picture 38"/>
          <p:cNvPicPr>
            <a:picLocks noChangeAspect="1"/>
          </p:cNvPicPr>
          <p:nvPr/>
        </p:nvPicPr>
        <p:blipFill>
          <a:blip r:embed="rId8"/>
          <a:stretch>
            <a:fillRect/>
          </a:stretch>
        </p:blipFill>
        <p:spPr>
          <a:xfrm>
            <a:off x="502158" y="3319271"/>
            <a:ext cx="5857004" cy="2456445"/>
          </a:xfrm>
          <a:prstGeom prst="rect">
            <a:avLst/>
          </a:prstGeom>
        </p:spPr>
      </p:pic>
      <p:pic>
        <p:nvPicPr>
          <p:cNvPr id="40" name="Picture 39"/>
          <p:cNvPicPr>
            <a:picLocks noChangeAspect="1"/>
          </p:cNvPicPr>
          <p:nvPr/>
        </p:nvPicPr>
        <p:blipFill>
          <a:blip r:embed="rId9"/>
          <a:stretch>
            <a:fillRect/>
          </a:stretch>
        </p:blipFill>
        <p:spPr>
          <a:xfrm>
            <a:off x="6492104" y="3282696"/>
            <a:ext cx="5425271" cy="2602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MODULE 03</a:t>
            </a:r>
            <a:endParaRPr lang="en-US" sz="1100" dirty="0"/>
          </a:p>
        </p:txBody>
      </p:sp>
      <p:sp>
        <p:nvSpPr>
          <p:cNvPr id="3" name="Text 1"/>
          <p:cNvSpPr txBox="1"/>
          <p:nvPr/>
        </p:nvSpPr>
        <p:spPr>
          <a:xfrm>
            <a:off x="548640" y="634671"/>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Attendance, Leave &amp; Payroll</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attendance_mod.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45920"/>
            <a:ext cx="3566160" cy="4484424"/>
          </a:xfrm>
          <a:prstGeom prst="roundRect">
            <a:avLst>
              <a:gd name="adj" fmla="val 4186"/>
            </a:avLst>
          </a:prstGeom>
          <a:solidFill>
            <a:srgbClr val="EAF1FC"/>
          </a:solidFill>
          <a:ln w="12700">
            <a:solidFill>
              <a:srgbClr val="C9D5EE"/>
            </a:solidFill>
            <a:prstDash val="solid"/>
          </a:ln>
        </p:spPr>
      </p:sp>
      <p:sp>
        <p:nvSpPr>
          <p:cNvPr id="8" name="Shape 5"/>
          <p:cNvSpPr/>
          <p:nvPr/>
        </p:nvSpPr>
        <p:spPr>
          <a:xfrm>
            <a:off x="777240" y="2827556"/>
            <a:ext cx="594360" cy="594360"/>
          </a:xfrm>
          <a:prstGeom prst="ellipse">
            <a:avLst/>
          </a:prstGeom>
          <a:solidFill>
            <a:srgbClr val="152A6B"/>
          </a:solidFill>
          <a:ln/>
        </p:spPr>
      </p:sp>
      <p:pic>
        <p:nvPicPr>
          <p:cNvPr id="9" name="Image 1" descr="/home/claude/ems_ppt/icons/attendance_mod.png"/>
          <p:cNvPicPr>
            <a:picLocks noChangeAspect="1"/>
          </p:cNvPicPr>
          <p:nvPr/>
        </p:nvPicPr>
        <p:blipFill>
          <a:blip r:embed="rId3"/>
          <a:stretch>
            <a:fillRect/>
          </a:stretch>
        </p:blipFill>
        <p:spPr>
          <a:xfrm>
            <a:off x="919886" y="2970202"/>
            <a:ext cx="309067" cy="309067"/>
          </a:xfrm>
          <a:prstGeom prst="rect">
            <a:avLst/>
          </a:prstGeom>
        </p:spPr>
      </p:pic>
      <p:sp>
        <p:nvSpPr>
          <p:cNvPr id="10" name="Text 6"/>
          <p:cNvSpPr txBox="1"/>
          <p:nvPr/>
        </p:nvSpPr>
        <p:spPr>
          <a:xfrm>
            <a:off x="1508760" y="2891564"/>
            <a:ext cx="2423160" cy="502920"/>
          </a:xfrm>
          <a:prstGeom prst="rect">
            <a:avLst/>
          </a:prstGeom>
          <a:noFill/>
          <a:ln/>
        </p:spPr>
        <p:txBody>
          <a:bodyPr wrap="square" lIns="0" tIns="0" rIns="0" bIns="0" rtlCol="0" anchor="ctr"/>
          <a:lstStyle/>
          <a:p>
            <a:pPr marL="0" indent="0">
              <a:buNone/>
            </a:pPr>
            <a:r>
              <a:rPr lang="en-US" sz="1350" b="1" dirty="0">
                <a:solidFill>
                  <a:srgbClr val="152A6B"/>
                </a:solidFill>
                <a:latin typeface="Calibri" pitchFamily="34" charset="0"/>
                <a:ea typeface="Calibri" pitchFamily="34" charset="-122"/>
                <a:cs typeface="Calibri" pitchFamily="34" charset="-120"/>
              </a:rPr>
              <a:t>Attendance Tracking</a:t>
            </a:r>
            <a:endParaRPr lang="en-US" sz="1350" dirty="0"/>
          </a:p>
        </p:txBody>
      </p:sp>
      <p:sp>
        <p:nvSpPr>
          <p:cNvPr id="11" name="Text 7"/>
          <p:cNvSpPr txBox="1"/>
          <p:nvPr/>
        </p:nvSpPr>
        <p:spPr>
          <a:xfrm>
            <a:off x="782700" y="3634096"/>
            <a:ext cx="3108960" cy="914400"/>
          </a:xfrm>
          <a:prstGeom prst="rect">
            <a:avLst/>
          </a:prstGeom>
          <a:noFill/>
          <a:ln/>
        </p:spPr>
        <p:txBody>
          <a:bodyPr wrap="square" lIns="0" tIns="0" rIns="0" bIns="0" rtlCol="0" anchor="t"/>
          <a:lstStyle/>
          <a:p>
            <a:pPr marL="228600" indent="-228600" algn="l">
              <a:spcAft>
                <a:spcPts val="600"/>
              </a:spcAft>
              <a:buSzPct val="100000"/>
              <a:buChar char="✦"/>
            </a:pPr>
            <a:endParaRPr lang="en-US" sz="1100" dirty="0" smtClean="0">
              <a:solidFill>
                <a:srgbClr val="1B2340"/>
              </a:solidFill>
              <a:latin typeface="Calibri" pitchFamily="34" charset="0"/>
              <a:ea typeface="Calibri" pitchFamily="34" charset="-122"/>
              <a:cs typeface="Calibri" pitchFamily="34" charset="-120"/>
            </a:endParaRPr>
          </a:p>
          <a:p>
            <a:pPr marL="228600" indent="-228600" algn="l">
              <a:spcAft>
                <a:spcPts val="600"/>
              </a:spcAft>
              <a:buSzPct val="100000"/>
              <a:buChar char="✦"/>
            </a:pPr>
            <a:r>
              <a:rPr lang="en-US" sz="1100" dirty="0" smtClean="0">
                <a:solidFill>
                  <a:srgbClr val="1B2340"/>
                </a:solidFill>
                <a:latin typeface="Calibri" pitchFamily="34" charset="0"/>
                <a:ea typeface="Calibri" pitchFamily="34" charset="-122"/>
                <a:cs typeface="Calibri" pitchFamily="34" charset="-120"/>
              </a:rPr>
              <a:t>Daily </a:t>
            </a:r>
            <a:r>
              <a:rPr lang="en-US" sz="1100" dirty="0">
                <a:solidFill>
                  <a:srgbClr val="1B2340"/>
                </a:solidFill>
                <a:latin typeface="Calibri" pitchFamily="34" charset="0"/>
                <a:ea typeface="Calibri" pitchFamily="34" charset="-122"/>
                <a:cs typeface="Calibri" pitchFamily="34" charset="-120"/>
              </a:rPr>
              <a:t>check-in / check-out logging</a:t>
            </a:r>
            <a:endParaRPr lang="en-US" sz="1100" dirty="0"/>
          </a:p>
          <a:p>
            <a:pPr marL="228600" indent="-228600" algn="l">
              <a:spcAft>
                <a:spcPts val="600"/>
              </a:spcAft>
              <a:buSzPct val="100000"/>
              <a:buChar char="✦"/>
            </a:pPr>
            <a:r>
              <a:rPr lang="en-US" sz="1100" dirty="0">
                <a:solidFill>
                  <a:srgbClr val="1B2340"/>
                </a:solidFill>
                <a:latin typeface="Calibri" pitchFamily="34" charset="0"/>
                <a:ea typeface="Calibri" pitchFamily="34" charset="-122"/>
                <a:cs typeface="Calibri" pitchFamily="34" charset="-120"/>
              </a:rPr>
              <a:t>Auto status: Present, Absent, Late</a:t>
            </a:r>
            <a:endParaRPr lang="en-US" sz="1100" dirty="0"/>
          </a:p>
        </p:txBody>
      </p:sp>
      <p:sp>
        <p:nvSpPr>
          <p:cNvPr id="12" name="Shape 8"/>
          <p:cNvSpPr/>
          <p:nvPr/>
        </p:nvSpPr>
        <p:spPr>
          <a:xfrm>
            <a:off x="4334256" y="1645920"/>
            <a:ext cx="3566160" cy="4484424"/>
          </a:xfrm>
          <a:prstGeom prst="roundRect">
            <a:avLst>
              <a:gd name="adj" fmla="val 4186"/>
            </a:avLst>
          </a:prstGeom>
          <a:solidFill>
            <a:srgbClr val="EAF1FC"/>
          </a:solidFill>
          <a:ln w="12700">
            <a:solidFill>
              <a:srgbClr val="C9D5EE"/>
            </a:solidFill>
            <a:prstDash val="solid"/>
          </a:ln>
        </p:spPr>
      </p:sp>
      <p:sp>
        <p:nvSpPr>
          <p:cNvPr id="13" name="Shape 9"/>
          <p:cNvSpPr/>
          <p:nvPr/>
        </p:nvSpPr>
        <p:spPr>
          <a:xfrm>
            <a:off x="4562856" y="2814677"/>
            <a:ext cx="594360" cy="594360"/>
          </a:xfrm>
          <a:prstGeom prst="ellipse">
            <a:avLst/>
          </a:prstGeom>
          <a:solidFill>
            <a:srgbClr val="152A6B"/>
          </a:solidFill>
          <a:ln/>
        </p:spPr>
      </p:sp>
      <p:pic>
        <p:nvPicPr>
          <p:cNvPr id="14" name="Image 2" descr="/home/claude/ems_ppt/icons/leave_mod.png"/>
          <p:cNvPicPr>
            <a:picLocks noChangeAspect="1"/>
          </p:cNvPicPr>
          <p:nvPr/>
        </p:nvPicPr>
        <p:blipFill>
          <a:blip r:embed="rId4"/>
          <a:stretch>
            <a:fillRect/>
          </a:stretch>
        </p:blipFill>
        <p:spPr>
          <a:xfrm>
            <a:off x="4705502" y="2957323"/>
            <a:ext cx="309067" cy="309067"/>
          </a:xfrm>
          <a:prstGeom prst="rect">
            <a:avLst/>
          </a:prstGeom>
        </p:spPr>
      </p:pic>
      <p:sp>
        <p:nvSpPr>
          <p:cNvPr id="15" name="Text 10"/>
          <p:cNvSpPr txBox="1"/>
          <p:nvPr/>
        </p:nvSpPr>
        <p:spPr>
          <a:xfrm>
            <a:off x="5294376" y="2878685"/>
            <a:ext cx="2423160" cy="502920"/>
          </a:xfrm>
          <a:prstGeom prst="rect">
            <a:avLst/>
          </a:prstGeom>
          <a:noFill/>
          <a:ln/>
        </p:spPr>
        <p:txBody>
          <a:bodyPr wrap="square" lIns="0" tIns="0" rIns="0" bIns="0" rtlCol="0" anchor="ctr"/>
          <a:lstStyle/>
          <a:p>
            <a:pPr marL="0" indent="0">
              <a:buNone/>
            </a:pPr>
            <a:r>
              <a:rPr lang="en-US" sz="1350" b="1" dirty="0">
                <a:solidFill>
                  <a:srgbClr val="152A6B"/>
                </a:solidFill>
                <a:latin typeface="Calibri" pitchFamily="34" charset="0"/>
                <a:ea typeface="Calibri" pitchFamily="34" charset="-122"/>
                <a:cs typeface="Calibri" pitchFamily="34" charset="-120"/>
              </a:rPr>
              <a:t>Leave Management</a:t>
            </a:r>
            <a:endParaRPr lang="en-US" sz="1350" dirty="0"/>
          </a:p>
        </p:txBody>
      </p:sp>
      <p:sp>
        <p:nvSpPr>
          <p:cNvPr id="16" name="Text 11"/>
          <p:cNvSpPr txBox="1"/>
          <p:nvPr/>
        </p:nvSpPr>
        <p:spPr>
          <a:xfrm>
            <a:off x="4705502" y="3634096"/>
            <a:ext cx="3108960" cy="914400"/>
          </a:xfrm>
          <a:prstGeom prst="rect">
            <a:avLst/>
          </a:prstGeom>
          <a:noFill/>
          <a:ln/>
        </p:spPr>
        <p:txBody>
          <a:bodyPr wrap="square" lIns="0" tIns="0" rIns="0" bIns="0" rtlCol="0" anchor="t"/>
          <a:lstStyle/>
          <a:p>
            <a:pPr marL="228600" indent="-228600" algn="l">
              <a:spcAft>
                <a:spcPts val="600"/>
              </a:spcAft>
              <a:buSzPct val="100000"/>
              <a:buChar char="✦"/>
            </a:pPr>
            <a:endParaRPr lang="en-US" sz="1100" dirty="0" smtClean="0">
              <a:solidFill>
                <a:srgbClr val="1B2340"/>
              </a:solidFill>
              <a:latin typeface="Calibri" pitchFamily="34" charset="0"/>
              <a:ea typeface="Calibri" pitchFamily="34" charset="-122"/>
              <a:cs typeface="Calibri" pitchFamily="34" charset="-120"/>
            </a:endParaRPr>
          </a:p>
          <a:p>
            <a:pPr marL="228600" indent="-228600" algn="l">
              <a:spcAft>
                <a:spcPts val="600"/>
              </a:spcAft>
              <a:buSzPct val="100000"/>
              <a:buChar char="✦"/>
            </a:pPr>
            <a:r>
              <a:rPr lang="en-US" sz="1100" dirty="0" smtClean="0">
                <a:solidFill>
                  <a:srgbClr val="1B2340"/>
                </a:solidFill>
                <a:latin typeface="Calibri" pitchFamily="34" charset="0"/>
                <a:ea typeface="Calibri" pitchFamily="34" charset="-122"/>
                <a:cs typeface="Calibri" pitchFamily="34" charset="-120"/>
              </a:rPr>
              <a:t>Employees </a:t>
            </a:r>
            <a:r>
              <a:rPr lang="en-US" sz="1100" dirty="0">
                <a:solidFill>
                  <a:srgbClr val="1B2340"/>
                </a:solidFill>
                <a:latin typeface="Calibri" pitchFamily="34" charset="0"/>
                <a:ea typeface="Calibri" pitchFamily="34" charset="-122"/>
                <a:cs typeface="Calibri" pitchFamily="34" charset="-120"/>
              </a:rPr>
              <a:t>submit leave requests</a:t>
            </a:r>
            <a:endParaRPr lang="en-US" sz="1100" dirty="0"/>
          </a:p>
          <a:p>
            <a:pPr marL="228600" indent="-228600" algn="l">
              <a:spcAft>
                <a:spcPts val="600"/>
              </a:spcAft>
              <a:buSzPct val="100000"/>
              <a:buChar char="✦"/>
            </a:pPr>
            <a:r>
              <a:rPr lang="en-US" sz="1100" dirty="0">
                <a:solidFill>
                  <a:srgbClr val="1B2340"/>
                </a:solidFill>
                <a:latin typeface="Calibri" pitchFamily="34" charset="0"/>
                <a:ea typeface="Calibri" pitchFamily="34" charset="-122"/>
                <a:cs typeface="Calibri" pitchFamily="34" charset="-120"/>
              </a:rPr>
              <a:t>Admin approves / rejects with remarks</a:t>
            </a:r>
            <a:endParaRPr lang="en-US" sz="1100" dirty="0"/>
          </a:p>
        </p:txBody>
      </p:sp>
      <p:sp>
        <p:nvSpPr>
          <p:cNvPr id="17" name="Shape 12"/>
          <p:cNvSpPr/>
          <p:nvPr/>
        </p:nvSpPr>
        <p:spPr>
          <a:xfrm>
            <a:off x="8119872" y="1645919"/>
            <a:ext cx="3566160" cy="4471415"/>
          </a:xfrm>
          <a:prstGeom prst="roundRect">
            <a:avLst>
              <a:gd name="adj" fmla="val 4186"/>
            </a:avLst>
          </a:prstGeom>
          <a:solidFill>
            <a:srgbClr val="EAF1FC"/>
          </a:solidFill>
          <a:ln w="12700">
            <a:solidFill>
              <a:srgbClr val="C9D5EE"/>
            </a:solidFill>
            <a:prstDash val="solid"/>
          </a:ln>
        </p:spPr>
      </p:sp>
      <p:sp>
        <p:nvSpPr>
          <p:cNvPr id="18" name="Shape 13"/>
          <p:cNvSpPr/>
          <p:nvPr/>
        </p:nvSpPr>
        <p:spPr>
          <a:xfrm>
            <a:off x="8348472" y="2879071"/>
            <a:ext cx="594360" cy="594360"/>
          </a:xfrm>
          <a:prstGeom prst="ellipse">
            <a:avLst/>
          </a:prstGeom>
          <a:solidFill>
            <a:srgbClr val="152A6B"/>
          </a:solidFill>
          <a:ln/>
        </p:spPr>
      </p:sp>
      <p:pic>
        <p:nvPicPr>
          <p:cNvPr id="19" name="Image 3" descr="/home/claude/ems_ppt/icons/payroll_mod.png"/>
          <p:cNvPicPr>
            <a:picLocks noChangeAspect="1"/>
          </p:cNvPicPr>
          <p:nvPr/>
        </p:nvPicPr>
        <p:blipFill>
          <a:blip r:embed="rId5"/>
          <a:stretch>
            <a:fillRect/>
          </a:stretch>
        </p:blipFill>
        <p:spPr>
          <a:xfrm>
            <a:off x="8491118" y="3021717"/>
            <a:ext cx="309067" cy="309067"/>
          </a:xfrm>
          <a:prstGeom prst="rect">
            <a:avLst/>
          </a:prstGeom>
        </p:spPr>
      </p:pic>
      <p:sp>
        <p:nvSpPr>
          <p:cNvPr id="20" name="Text 14"/>
          <p:cNvSpPr txBox="1"/>
          <p:nvPr/>
        </p:nvSpPr>
        <p:spPr>
          <a:xfrm>
            <a:off x="9079992" y="2943079"/>
            <a:ext cx="2423160" cy="502920"/>
          </a:xfrm>
          <a:prstGeom prst="rect">
            <a:avLst/>
          </a:prstGeom>
          <a:noFill/>
          <a:ln/>
        </p:spPr>
        <p:txBody>
          <a:bodyPr wrap="square" lIns="0" tIns="0" rIns="0" bIns="0" rtlCol="0" anchor="ctr"/>
          <a:lstStyle/>
          <a:p>
            <a:pPr marL="0" indent="0">
              <a:buNone/>
            </a:pPr>
            <a:r>
              <a:rPr lang="en-US" sz="1350" b="1" dirty="0">
                <a:solidFill>
                  <a:srgbClr val="152A6B"/>
                </a:solidFill>
                <a:latin typeface="Calibri" pitchFamily="34" charset="0"/>
                <a:ea typeface="Calibri" pitchFamily="34" charset="-122"/>
                <a:cs typeface="Calibri" pitchFamily="34" charset="-120"/>
              </a:rPr>
              <a:t>Payroll Processing</a:t>
            </a:r>
            <a:endParaRPr lang="en-US" sz="1350" dirty="0"/>
          </a:p>
        </p:txBody>
      </p:sp>
      <p:sp>
        <p:nvSpPr>
          <p:cNvPr id="21" name="Text 15"/>
          <p:cNvSpPr txBox="1"/>
          <p:nvPr/>
        </p:nvSpPr>
        <p:spPr>
          <a:xfrm>
            <a:off x="8348472" y="3520440"/>
            <a:ext cx="3108960" cy="2056112"/>
          </a:xfrm>
          <a:prstGeom prst="rect">
            <a:avLst/>
          </a:prstGeom>
          <a:noFill/>
          <a:ln/>
        </p:spPr>
        <p:txBody>
          <a:bodyPr wrap="square" lIns="0" tIns="0" rIns="0" bIns="0" rtlCol="0" anchor="t"/>
          <a:lstStyle/>
          <a:p>
            <a:pPr algn="l">
              <a:spcAft>
                <a:spcPts val="600"/>
              </a:spcAft>
              <a:buSzPct val="100000"/>
            </a:pPr>
            <a:endParaRPr lang="en-US" sz="1100" dirty="0" smtClean="0">
              <a:solidFill>
                <a:srgbClr val="1B2340"/>
              </a:solidFill>
              <a:latin typeface="Calibri" pitchFamily="34" charset="0"/>
              <a:ea typeface="Calibri" pitchFamily="34" charset="-122"/>
              <a:cs typeface="Calibri" pitchFamily="34" charset="-120"/>
            </a:endParaRPr>
          </a:p>
          <a:p>
            <a:pPr marL="228600" indent="-228600" algn="l">
              <a:spcAft>
                <a:spcPts val="600"/>
              </a:spcAft>
              <a:buSzPct val="100000"/>
              <a:buChar char="✦"/>
            </a:pPr>
            <a:r>
              <a:rPr lang="en-US" sz="1100" dirty="0" smtClean="0">
                <a:solidFill>
                  <a:srgbClr val="1B2340"/>
                </a:solidFill>
                <a:latin typeface="Calibri" pitchFamily="34" charset="0"/>
                <a:ea typeface="Calibri" pitchFamily="34" charset="-122"/>
                <a:cs typeface="Calibri" pitchFamily="34" charset="-120"/>
              </a:rPr>
              <a:t>Auto salary calculation with deductions</a:t>
            </a:r>
            <a:endParaRPr lang="en-US" sz="1100" dirty="0" smtClean="0"/>
          </a:p>
          <a:p>
            <a:pPr marL="228600" indent="-228600" algn="l">
              <a:spcAft>
                <a:spcPts val="600"/>
              </a:spcAft>
              <a:buSzPct val="100000"/>
              <a:buChar char="✦"/>
            </a:pPr>
            <a:r>
              <a:rPr lang="en-US" sz="1100" dirty="0" smtClean="0">
                <a:solidFill>
                  <a:srgbClr val="1B2340"/>
                </a:solidFill>
                <a:latin typeface="Calibri" pitchFamily="34" charset="0"/>
                <a:ea typeface="Calibri" pitchFamily="34" charset="-122"/>
                <a:cs typeface="Calibri" pitchFamily="34" charset="-120"/>
              </a:rPr>
              <a:t>Monthly </a:t>
            </a:r>
            <a:r>
              <a:rPr lang="en-US" sz="1100" dirty="0" err="1" smtClean="0">
                <a:solidFill>
                  <a:srgbClr val="1B2340"/>
                </a:solidFill>
                <a:latin typeface="Calibri" pitchFamily="34" charset="0"/>
                <a:ea typeface="Calibri" pitchFamily="34" charset="-122"/>
                <a:cs typeface="Calibri" pitchFamily="34" charset="-120"/>
              </a:rPr>
              <a:t>payslip</a:t>
            </a:r>
            <a:r>
              <a:rPr lang="en-US" sz="1100" dirty="0" smtClean="0">
                <a:solidFill>
                  <a:srgbClr val="1B2340"/>
                </a:solidFill>
                <a:latin typeface="Calibri" pitchFamily="34" charset="0"/>
                <a:ea typeface="Calibri" pitchFamily="34" charset="-122"/>
                <a:cs typeface="Calibri" pitchFamily="34" charset="-120"/>
              </a:rPr>
              <a:t> generation</a:t>
            </a:r>
            <a:endParaRPr lang="en-US" sz="1100" dirty="0"/>
          </a:p>
        </p:txBody>
      </p:sp>
      <p:sp>
        <p:nvSpPr>
          <p:cNvPr id="31" name="Text 22"/>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32" name="Text 23"/>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MODULE 04</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Reports &amp; Analytics</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rep_dept.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91640"/>
            <a:ext cx="2622042" cy="1234440"/>
          </a:xfrm>
          <a:prstGeom prst="roundRect">
            <a:avLst>
              <a:gd name="adj" fmla="val 5926"/>
            </a:avLst>
          </a:prstGeom>
          <a:solidFill>
            <a:srgbClr val="EAF1FC"/>
          </a:solidFill>
          <a:ln w="12700">
            <a:solidFill>
              <a:srgbClr val="C9D5EE"/>
            </a:solidFill>
            <a:prstDash val="solid"/>
          </a:ln>
        </p:spPr>
      </p:sp>
      <p:sp>
        <p:nvSpPr>
          <p:cNvPr id="8" name="Shape 5"/>
          <p:cNvSpPr/>
          <p:nvPr/>
        </p:nvSpPr>
        <p:spPr>
          <a:xfrm>
            <a:off x="713232" y="2052828"/>
            <a:ext cx="512064" cy="512064"/>
          </a:xfrm>
          <a:prstGeom prst="ellipse">
            <a:avLst/>
          </a:prstGeom>
          <a:solidFill>
            <a:srgbClr val="152A6B"/>
          </a:solidFill>
          <a:ln/>
        </p:spPr>
      </p:sp>
      <p:pic>
        <p:nvPicPr>
          <p:cNvPr id="9" name="Image 1" descr="/home/claude/ems_ppt/icons/rep_dept.png"/>
          <p:cNvPicPr>
            <a:picLocks noChangeAspect="1"/>
          </p:cNvPicPr>
          <p:nvPr/>
        </p:nvPicPr>
        <p:blipFill>
          <a:blip r:embed="rId3"/>
          <a:stretch>
            <a:fillRect/>
          </a:stretch>
        </p:blipFill>
        <p:spPr>
          <a:xfrm>
            <a:off x="836127" y="2175723"/>
            <a:ext cx="266273" cy="266273"/>
          </a:xfrm>
          <a:prstGeom prst="rect">
            <a:avLst/>
          </a:prstGeom>
        </p:spPr>
      </p:pic>
      <p:sp>
        <p:nvSpPr>
          <p:cNvPr id="10" name="Text 6"/>
          <p:cNvSpPr txBox="1"/>
          <p:nvPr/>
        </p:nvSpPr>
        <p:spPr>
          <a:xfrm>
            <a:off x="1325880" y="1691640"/>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Employees by Department</a:t>
            </a:r>
            <a:endParaRPr lang="en-US" sz="1100" dirty="0"/>
          </a:p>
        </p:txBody>
      </p:sp>
      <p:sp>
        <p:nvSpPr>
          <p:cNvPr id="11" name="Shape 7"/>
          <p:cNvSpPr/>
          <p:nvPr/>
        </p:nvSpPr>
        <p:spPr>
          <a:xfrm>
            <a:off x="3371850" y="1691640"/>
            <a:ext cx="2622042" cy="1234440"/>
          </a:xfrm>
          <a:prstGeom prst="roundRect">
            <a:avLst>
              <a:gd name="adj" fmla="val 5926"/>
            </a:avLst>
          </a:prstGeom>
          <a:solidFill>
            <a:srgbClr val="EAF1FC"/>
          </a:solidFill>
          <a:ln w="12700">
            <a:solidFill>
              <a:srgbClr val="C9D5EE"/>
            </a:solidFill>
            <a:prstDash val="solid"/>
          </a:ln>
        </p:spPr>
      </p:sp>
      <p:sp>
        <p:nvSpPr>
          <p:cNvPr id="12" name="Shape 8"/>
          <p:cNvSpPr/>
          <p:nvPr/>
        </p:nvSpPr>
        <p:spPr>
          <a:xfrm>
            <a:off x="3536442" y="2052828"/>
            <a:ext cx="512064" cy="512064"/>
          </a:xfrm>
          <a:prstGeom prst="ellipse">
            <a:avLst/>
          </a:prstGeom>
          <a:solidFill>
            <a:srgbClr val="152A6B"/>
          </a:solidFill>
          <a:ln/>
        </p:spPr>
      </p:sp>
      <p:pic>
        <p:nvPicPr>
          <p:cNvPr id="13" name="Image 2" descr="/home/claude/ems_ppt/icons/rep_attendance.png"/>
          <p:cNvPicPr>
            <a:picLocks noChangeAspect="1"/>
          </p:cNvPicPr>
          <p:nvPr/>
        </p:nvPicPr>
        <p:blipFill>
          <a:blip r:embed="rId4"/>
          <a:stretch>
            <a:fillRect/>
          </a:stretch>
        </p:blipFill>
        <p:spPr>
          <a:xfrm>
            <a:off x="3659337" y="2175723"/>
            <a:ext cx="266273" cy="266273"/>
          </a:xfrm>
          <a:prstGeom prst="rect">
            <a:avLst/>
          </a:prstGeom>
        </p:spPr>
      </p:pic>
      <p:sp>
        <p:nvSpPr>
          <p:cNvPr id="14" name="Text 9"/>
          <p:cNvSpPr txBox="1"/>
          <p:nvPr/>
        </p:nvSpPr>
        <p:spPr>
          <a:xfrm>
            <a:off x="4149090" y="1691640"/>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Attendance Summary</a:t>
            </a:r>
            <a:endParaRPr lang="en-US" sz="1100" dirty="0"/>
          </a:p>
        </p:txBody>
      </p:sp>
      <p:sp>
        <p:nvSpPr>
          <p:cNvPr id="15" name="Shape 10"/>
          <p:cNvSpPr/>
          <p:nvPr/>
        </p:nvSpPr>
        <p:spPr>
          <a:xfrm>
            <a:off x="6195060" y="1691640"/>
            <a:ext cx="2622042" cy="1234440"/>
          </a:xfrm>
          <a:prstGeom prst="roundRect">
            <a:avLst>
              <a:gd name="adj" fmla="val 5926"/>
            </a:avLst>
          </a:prstGeom>
          <a:solidFill>
            <a:srgbClr val="EAF1FC"/>
          </a:solidFill>
          <a:ln w="12700">
            <a:solidFill>
              <a:srgbClr val="C9D5EE"/>
            </a:solidFill>
            <a:prstDash val="solid"/>
          </a:ln>
        </p:spPr>
      </p:sp>
      <p:sp>
        <p:nvSpPr>
          <p:cNvPr id="16" name="Shape 11"/>
          <p:cNvSpPr/>
          <p:nvPr/>
        </p:nvSpPr>
        <p:spPr>
          <a:xfrm>
            <a:off x="6359652" y="2052828"/>
            <a:ext cx="512064" cy="512064"/>
          </a:xfrm>
          <a:prstGeom prst="ellipse">
            <a:avLst/>
          </a:prstGeom>
          <a:solidFill>
            <a:srgbClr val="152A6B"/>
          </a:solidFill>
          <a:ln/>
        </p:spPr>
      </p:sp>
      <p:pic>
        <p:nvPicPr>
          <p:cNvPr id="17" name="Image 3" descr="/home/claude/ems_ppt/icons/rep_leave.png"/>
          <p:cNvPicPr>
            <a:picLocks noChangeAspect="1"/>
          </p:cNvPicPr>
          <p:nvPr/>
        </p:nvPicPr>
        <p:blipFill>
          <a:blip r:embed="rId5"/>
          <a:stretch>
            <a:fillRect/>
          </a:stretch>
        </p:blipFill>
        <p:spPr>
          <a:xfrm>
            <a:off x="6482547" y="2175723"/>
            <a:ext cx="266273" cy="266273"/>
          </a:xfrm>
          <a:prstGeom prst="rect">
            <a:avLst/>
          </a:prstGeom>
        </p:spPr>
      </p:pic>
      <p:sp>
        <p:nvSpPr>
          <p:cNvPr id="18" name="Text 12"/>
          <p:cNvSpPr txBox="1"/>
          <p:nvPr/>
        </p:nvSpPr>
        <p:spPr>
          <a:xfrm>
            <a:off x="6972300" y="1691640"/>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Leave Summary</a:t>
            </a:r>
            <a:endParaRPr lang="en-US" sz="1100" dirty="0"/>
          </a:p>
        </p:txBody>
      </p:sp>
      <p:sp>
        <p:nvSpPr>
          <p:cNvPr id="19" name="Shape 13"/>
          <p:cNvSpPr/>
          <p:nvPr/>
        </p:nvSpPr>
        <p:spPr>
          <a:xfrm>
            <a:off x="9018270" y="1691640"/>
            <a:ext cx="2622042" cy="1234440"/>
          </a:xfrm>
          <a:prstGeom prst="roundRect">
            <a:avLst>
              <a:gd name="adj" fmla="val 5926"/>
            </a:avLst>
          </a:prstGeom>
          <a:solidFill>
            <a:srgbClr val="EAF1FC"/>
          </a:solidFill>
          <a:ln w="12700">
            <a:solidFill>
              <a:srgbClr val="C9D5EE"/>
            </a:solidFill>
            <a:prstDash val="solid"/>
          </a:ln>
        </p:spPr>
      </p:sp>
      <p:sp>
        <p:nvSpPr>
          <p:cNvPr id="20" name="Shape 14"/>
          <p:cNvSpPr/>
          <p:nvPr/>
        </p:nvSpPr>
        <p:spPr>
          <a:xfrm>
            <a:off x="9182862" y="2052828"/>
            <a:ext cx="512064" cy="512064"/>
          </a:xfrm>
          <a:prstGeom prst="ellipse">
            <a:avLst/>
          </a:prstGeom>
          <a:solidFill>
            <a:srgbClr val="152A6B"/>
          </a:solidFill>
          <a:ln/>
        </p:spPr>
      </p:sp>
      <p:pic>
        <p:nvPicPr>
          <p:cNvPr id="21" name="Image 4" descr="/home/claude/ems_ppt/icons/rep_payroll.png"/>
          <p:cNvPicPr>
            <a:picLocks noChangeAspect="1"/>
          </p:cNvPicPr>
          <p:nvPr/>
        </p:nvPicPr>
        <p:blipFill>
          <a:blip r:embed="rId6"/>
          <a:stretch>
            <a:fillRect/>
          </a:stretch>
        </p:blipFill>
        <p:spPr>
          <a:xfrm>
            <a:off x="9305757" y="2175723"/>
            <a:ext cx="266273" cy="266273"/>
          </a:xfrm>
          <a:prstGeom prst="rect">
            <a:avLst/>
          </a:prstGeom>
        </p:spPr>
      </p:pic>
      <p:sp>
        <p:nvSpPr>
          <p:cNvPr id="22" name="Text 15"/>
          <p:cNvSpPr txBox="1"/>
          <p:nvPr/>
        </p:nvSpPr>
        <p:spPr>
          <a:xfrm>
            <a:off x="9795510" y="1691640"/>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Payroll Summary</a:t>
            </a:r>
            <a:endParaRPr lang="en-US" sz="1100" dirty="0"/>
          </a:p>
        </p:txBody>
      </p:sp>
      <p:sp>
        <p:nvSpPr>
          <p:cNvPr id="23" name="Shape 16"/>
          <p:cNvSpPr/>
          <p:nvPr/>
        </p:nvSpPr>
        <p:spPr>
          <a:xfrm>
            <a:off x="548640" y="3127248"/>
            <a:ext cx="2622042" cy="1234440"/>
          </a:xfrm>
          <a:prstGeom prst="roundRect">
            <a:avLst>
              <a:gd name="adj" fmla="val 5926"/>
            </a:avLst>
          </a:prstGeom>
          <a:solidFill>
            <a:srgbClr val="EAF1FC"/>
          </a:solidFill>
          <a:ln w="12700">
            <a:solidFill>
              <a:srgbClr val="C9D5EE"/>
            </a:solidFill>
            <a:prstDash val="solid"/>
          </a:ln>
        </p:spPr>
      </p:sp>
      <p:sp>
        <p:nvSpPr>
          <p:cNvPr id="24" name="Shape 17"/>
          <p:cNvSpPr/>
          <p:nvPr/>
        </p:nvSpPr>
        <p:spPr>
          <a:xfrm>
            <a:off x="713232" y="3488436"/>
            <a:ext cx="512064" cy="512064"/>
          </a:xfrm>
          <a:prstGeom prst="ellipse">
            <a:avLst/>
          </a:prstGeom>
          <a:solidFill>
            <a:srgbClr val="152A6B"/>
          </a:solidFill>
          <a:ln/>
        </p:spPr>
      </p:sp>
      <p:pic>
        <p:nvPicPr>
          <p:cNvPr id="25" name="Image 5" descr="/home/claude/ems_ppt/icons/rep_active.png"/>
          <p:cNvPicPr>
            <a:picLocks noChangeAspect="1"/>
          </p:cNvPicPr>
          <p:nvPr/>
        </p:nvPicPr>
        <p:blipFill>
          <a:blip r:embed="rId7"/>
          <a:stretch>
            <a:fillRect/>
          </a:stretch>
        </p:blipFill>
        <p:spPr>
          <a:xfrm>
            <a:off x="836127" y="3611331"/>
            <a:ext cx="266273" cy="266273"/>
          </a:xfrm>
          <a:prstGeom prst="rect">
            <a:avLst/>
          </a:prstGeom>
        </p:spPr>
      </p:pic>
      <p:sp>
        <p:nvSpPr>
          <p:cNvPr id="26" name="Text 18"/>
          <p:cNvSpPr txBox="1"/>
          <p:nvPr/>
        </p:nvSpPr>
        <p:spPr>
          <a:xfrm>
            <a:off x="1325880" y="3127248"/>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Active Employees</a:t>
            </a:r>
            <a:endParaRPr lang="en-US" sz="1100" dirty="0"/>
          </a:p>
        </p:txBody>
      </p:sp>
      <p:sp>
        <p:nvSpPr>
          <p:cNvPr id="27" name="Shape 19"/>
          <p:cNvSpPr/>
          <p:nvPr/>
        </p:nvSpPr>
        <p:spPr>
          <a:xfrm>
            <a:off x="3371850" y="3127248"/>
            <a:ext cx="2622042" cy="1234440"/>
          </a:xfrm>
          <a:prstGeom prst="roundRect">
            <a:avLst>
              <a:gd name="adj" fmla="val 5926"/>
            </a:avLst>
          </a:prstGeom>
          <a:solidFill>
            <a:srgbClr val="EAF1FC"/>
          </a:solidFill>
          <a:ln w="12700">
            <a:solidFill>
              <a:srgbClr val="C9D5EE"/>
            </a:solidFill>
            <a:prstDash val="solid"/>
          </a:ln>
        </p:spPr>
      </p:sp>
      <p:sp>
        <p:nvSpPr>
          <p:cNvPr id="28" name="Shape 20"/>
          <p:cNvSpPr/>
          <p:nvPr/>
        </p:nvSpPr>
        <p:spPr>
          <a:xfrm>
            <a:off x="3536442" y="3488436"/>
            <a:ext cx="512064" cy="512064"/>
          </a:xfrm>
          <a:prstGeom prst="ellipse">
            <a:avLst/>
          </a:prstGeom>
          <a:solidFill>
            <a:srgbClr val="152A6B"/>
          </a:solidFill>
          <a:ln/>
        </p:spPr>
      </p:sp>
      <p:pic>
        <p:nvPicPr>
          <p:cNvPr id="29" name="Image 6" descr="/home/claude/ems_ppt/icons/rep_terminated.png"/>
          <p:cNvPicPr>
            <a:picLocks noChangeAspect="1"/>
          </p:cNvPicPr>
          <p:nvPr/>
        </p:nvPicPr>
        <p:blipFill>
          <a:blip r:embed="rId8"/>
          <a:stretch>
            <a:fillRect/>
          </a:stretch>
        </p:blipFill>
        <p:spPr>
          <a:xfrm>
            <a:off x="3659337" y="3611331"/>
            <a:ext cx="266273" cy="266273"/>
          </a:xfrm>
          <a:prstGeom prst="rect">
            <a:avLst/>
          </a:prstGeom>
        </p:spPr>
      </p:pic>
      <p:sp>
        <p:nvSpPr>
          <p:cNvPr id="30" name="Text 21"/>
          <p:cNvSpPr txBox="1"/>
          <p:nvPr/>
        </p:nvSpPr>
        <p:spPr>
          <a:xfrm>
            <a:off x="4149090" y="3127248"/>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Terminated Employees</a:t>
            </a:r>
            <a:endParaRPr lang="en-US" sz="1100" dirty="0"/>
          </a:p>
        </p:txBody>
      </p:sp>
      <p:sp>
        <p:nvSpPr>
          <p:cNvPr id="31" name="Shape 22"/>
          <p:cNvSpPr/>
          <p:nvPr/>
        </p:nvSpPr>
        <p:spPr>
          <a:xfrm>
            <a:off x="6195060" y="3127248"/>
            <a:ext cx="2622042" cy="1234440"/>
          </a:xfrm>
          <a:prstGeom prst="roundRect">
            <a:avLst>
              <a:gd name="adj" fmla="val 5926"/>
            </a:avLst>
          </a:prstGeom>
          <a:solidFill>
            <a:srgbClr val="EAF1FC"/>
          </a:solidFill>
          <a:ln w="12700">
            <a:solidFill>
              <a:srgbClr val="C9D5EE"/>
            </a:solidFill>
            <a:prstDash val="solid"/>
          </a:ln>
        </p:spPr>
      </p:sp>
      <p:sp>
        <p:nvSpPr>
          <p:cNvPr id="32" name="Shape 23"/>
          <p:cNvSpPr/>
          <p:nvPr/>
        </p:nvSpPr>
        <p:spPr>
          <a:xfrm>
            <a:off x="6359652" y="3488436"/>
            <a:ext cx="512064" cy="512064"/>
          </a:xfrm>
          <a:prstGeom prst="ellipse">
            <a:avLst/>
          </a:prstGeom>
          <a:solidFill>
            <a:srgbClr val="152A6B"/>
          </a:solidFill>
          <a:ln/>
        </p:spPr>
      </p:sp>
      <p:pic>
        <p:nvPicPr>
          <p:cNvPr id="33" name="Image 7" descr="/home/claude/ems_ppt/icons/rep_dept_summary.png"/>
          <p:cNvPicPr>
            <a:picLocks noChangeAspect="1"/>
          </p:cNvPicPr>
          <p:nvPr/>
        </p:nvPicPr>
        <p:blipFill>
          <a:blip r:embed="rId9"/>
          <a:stretch>
            <a:fillRect/>
          </a:stretch>
        </p:blipFill>
        <p:spPr>
          <a:xfrm>
            <a:off x="6482547" y="3611331"/>
            <a:ext cx="266273" cy="266273"/>
          </a:xfrm>
          <a:prstGeom prst="rect">
            <a:avLst/>
          </a:prstGeom>
        </p:spPr>
      </p:pic>
      <p:sp>
        <p:nvSpPr>
          <p:cNvPr id="34" name="Text 24"/>
          <p:cNvSpPr txBox="1"/>
          <p:nvPr/>
        </p:nvSpPr>
        <p:spPr>
          <a:xfrm>
            <a:off x="6972300" y="3127248"/>
            <a:ext cx="1707642" cy="1234440"/>
          </a:xfrm>
          <a:prstGeom prst="rect">
            <a:avLst/>
          </a:prstGeom>
          <a:noFill/>
          <a:ln/>
        </p:spPr>
        <p:txBody>
          <a:bodyPr wrap="square" lIns="0" tIns="0" rIns="0" bIns="0" rtlCol="0" anchor="ctr"/>
          <a:lstStyle/>
          <a:p>
            <a:pPr marL="0" indent="0">
              <a:buNone/>
            </a:pPr>
            <a:r>
              <a:rPr lang="en-US" sz="1100" b="1" dirty="0">
                <a:solidFill>
                  <a:srgbClr val="1B2340"/>
                </a:solidFill>
                <a:latin typeface="Calibri" pitchFamily="34" charset="0"/>
                <a:ea typeface="Calibri" pitchFamily="34" charset="-122"/>
                <a:cs typeface="Calibri" pitchFamily="34" charset="-120"/>
              </a:rPr>
              <a:t>Department Summary</a:t>
            </a:r>
            <a:endParaRPr lang="en-US" sz="1100" dirty="0"/>
          </a:p>
        </p:txBody>
      </p:sp>
      <p:sp>
        <p:nvSpPr>
          <p:cNvPr id="37" name="Shape 27"/>
          <p:cNvSpPr/>
          <p:nvPr/>
        </p:nvSpPr>
        <p:spPr>
          <a:xfrm>
            <a:off x="548640" y="4480560"/>
            <a:ext cx="11091672" cy="960120"/>
          </a:xfrm>
          <a:prstGeom prst="roundRect">
            <a:avLst>
              <a:gd name="adj" fmla="val 7619"/>
            </a:avLst>
          </a:prstGeom>
          <a:solidFill>
            <a:srgbClr val="EAF1FC"/>
          </a:solidFill>
          <a:ln w="12700">
            <a:solidFill>
              <a:srgbClr val="C9D5EE"/>
            </a:solidFill>
            <a:prstDash val="solid"/>
          </a:ln>
        </p:spPr>
      </p:sp>
      <p:sp>
        <p:nvSpPr>
          <p:cNvPr id="38" name="Text 28"/>
          <p:cNvSpPr txBox="1"/>
          <p:nvPr/>
        </p:nvSpPr>
        <p:spPr>
          <a:xfrm>
            <a:off x="868680" y="4480560"/>
            <a:ext cx="10469880" cy="960120"/>
          </a:xfrm>
          <a:prstGeom prst="rect">
            <a:avLst/>
          </a:prstGeom>
          <a:noFill/>
          <a:ln/>
        </p:spPr>
        <p:txBody>
          <a:bodyPr wrap="square" lIns="0" tIns="0" rIns="0" bIns="0" rtlCol="0" anchor="ctr"/>
          <a:lstStyle/>
          <a:p>
            <a:pPr marL="0" indent="0">
              <a:buNone/>
            </a:pPr>
            <a:r>
              <a:rPr lang="en-US" sz="1300" i="1" dirty="0">
                <a:solidFill>
                  <a:srgbClr val="1B2340"/>
                </a:solidFill>
                <a:latin typeface="Calibri" pitchFamily="34" charset="0"/>
                <a:ea typeface="Calibri" pitchFamily="34" charset="-122"/>
                <a:cs typeface="Calibri" pitchFamily="34" charset="-120"/>
              </a:rPr>
              <a:t>Every report can be filtered by date range or department, giving managers instant, accurate insight without manual data compilation.</a:t>
            </a:r>
            <a:endParaRPr lang="en-US" sz="1300" dirty="0"/>
          </a:p>
        </p:txBody>
      </p:sp>
      <p:sp>
        <p:nvSpPr>
          <p:cNvPr id="39" name="Text 29"/>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40" name="Text 30"/>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LOOKING AHEAD</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Challenges &amp; Future Enhancements</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challenge.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Shape 4"/>
          <p:cNvSpPr/>
          <p:nvPr/>
        </p:nvSpPr>
        <p:spPr>
          <a:xfrm>
            <a:off x="548640" y="1691640"/>
            <a:ext cx="5257800" cy="4480560"/>
          </a:xfrm>
          <a:prstGeom prst="roundRect">
            <a:avLst>
              <a:gd name="adj" fmla="val 2041"/>
            </a:avLst>
          </a:prstGeom>
          <a:solidFill>
            <a:srgbClr val="EAF1FC"/>
          </a:solidFill>
          <a:ln w="12700">
            <a:solidFill>
              <a:srgbClr val="C9D5EE"/>
            </a:solidFill>
            <a:prstDash val="solid"/>
          </a:ln>
        </p:spPr>
      </p:sp>
      <p:sp>
        <p:nvSpPr>
          <p:cNvPr id="8" name="Shape 5"/>
          <p:cNvSpPr/>
          <p:nvPr/>
        </p:nvSpPr>
        <p:spPr>
          <a:xfrm>
            <a:off x="868680" y="2011680"/>
            <a:ext cx="685800" cy="685800"/>
          </a:xfrm>
          <a:prstGeom prst="ellipse">
            <a:avLst/>
          </a:prstGeom>
          <a:solidFill>
            <a:srgbClr val="152A6B"/>
          </a:solidFill>
          <a:ln/>
        </p:spPr>
      </p:sp>
      <p:pic>
        <p:nvPicPr>
          <p:cNvPr id="9" name="Image 1" descr="/home/claude/ems_ppt/icons/challenge.png"/>
          <p:cNvPicPr>
            <a:picLocks noChangeAspect="1"/>
          </p:cNvPicPr>
          <p:nvPr/>
        </p:nvPicPr>
        <p:blipFill>
          <a:blip r:embed="rId3"/>
          <a:stretch>
            <a:fillRect/>
          </a:stretch>
        </p:blipFill>
        <p:spPr>
          <a:xfrm>
            <a:off x="1040130" y="2183130"/>
            <a:ext cx="342900" cy="342900"/>
          </a:xfrm>
          <a:prstGeom prst="rect">
            <a:avLst/>
          </a:prstGeom>
        </p:spPr>
      </p:pic>
      <p:sp>
        <p:nvSpPr>
          <p:cNvPr id="10" name="Text 6"/>
          <p:cNvSpPr txBox="1"/>
          <p:nvPr/>
        </p:nvSpPr>
        <p:spPr>
          <a:xfrm>
            <a:off x="1691640" y="2075688"/>
            <a:ext cx="3886200" cy="548640"/>
          </a:xfrm>
          <a:prstGeom prst="rect">
            <a:avLst/>
          </a:prstGeom>
          <a:noFill/>
          <a:ln/>
        </p:spPr>
        <p:txBody>
          <a:bodyPr wrap="square" lIns="0" tIns="0" rIns="0" bIns="0" rtlCol="0" anchor="ctr"/>
          <a:lstStyle/>
          <a:p>
            <a:pPr marL="0" indent="0">
              <a:buNone/>
            </a:pPr>
            <a:r>
              <a:rPr lang="en-US" sz="1800" b="1" dirty="0">
                <a:solidFill>
                  <a:srgbClr val="152A6B"/>
                </a:solidFill>
                <a:latin typeface="Cambria" pitchFamily="34" charset="0"/>
                <a:ea typeface="Cambria" pitchFamily="34" charset="-122"/>
                <a:cs typeface="Cambria" pitchFamily="34" charset="-120"/>
              </a:rPr>
              <a:t>Challenges Faced</a:t>
            </a:r>
            <a:endParaRPr lang="en-US" sz="1800" dirty="0"/>
          </a:p>
        </p:txBody>
      </p:sp>
      <p:sp>
        <p:nvSpPr>
          <p:cNvPr id="11" name="Shape 7"/>
          <p:cNvSpPr/>
          <p:nvPr/>
        </p:nvSpPr>
        <p:spPr>
          <a:xfrm>
            <a:off x="914400" y="2880360"/>
            <a:ext cx="502920" cy="502920"/>
          </a:xfrm>
          <a:prstGeom prst="ellipse">
            <a:avLst/>
          </a:prstGeom>
          <a:solidFill>
            <a:srgbClr val="FFFFFF"/>
          </a:solidFill>
          <a:ln/>
        </p:spPr>
      </p:sp>
      <p:pic>
        <p:nvPicPr>
          <p:cNvPr id="12" name="Image 2" descr="/home/claude/ems_ppt/icons/ch_db.png"/>
          <p:cNvPicPr>
            <a:picLocks noChangeAspect="1"/>
          </p:cNvPicPr>
          <p:nvPr/>
        </p:nvPicPr>
        <p:blipFill>
          <a:blip r:embed="rId4"/>
          <a:stretch>
            <a:fillRect/>
          </a:stretch>
        </p:blipFill>
        <p:spPr>
          <a:xfrm>
            <a:off x="1027557" y="2993517"/>
            <a:ext cx="276606" cy="276606"/>
          </a:xfrm>
          <a:prstGeom prst="rect">
            <a:avLst/>
          </a:prstGeom>
        </p:spPr>
      </p:pic>
      <p:sp>
        <p:nvSpPr>
          <p:cNvPr id="13" name="Text 8"/>
          <p:cNvSpPr txBox="1"/>
          <p:nvPr/>
        </p:nvSpPr>
        <p:spPr>
          <a:xfrm>
            <a:off x="1554480" y="2852928"/>
            <a:ext cx="3977640" cy="274320"/>
          </a:xfrm>
          <a:prstGeom prst="rect">
            <a:avLst/>
          </a:prstGeom>
          <a:noFill/>
          <a:ln/>
        </p:spPr>
        <p:txBody>
          <a:bodyPr wrap="square" lIns="0" tIns="0" rIns="0" bIns="0" rtlCol="0" anchor="ctr"/>
          <a:lstStyle/>
          <a:p>
            <a:pPr marL="0" indent="0">
              <a:buNone/>
            </a:pPr>
            <a:r>
              <a:rPr lang="en-US" sz="1250" b="1" dirty="0">
                <a:solidFill>
                  <a:srgbClr val="152A6B"/>
                </a:solidFill>
                <a:latin typeface="Calibri" pitchFamily="34" charset="0"/>
                <a:ea typeface="Calibri" pitchFamily="34" charset="-122"/>
                <a:cs typeface="Calibri" pitchFamily="34" charset="-120"/>
              </a:rPr>
              <a:t>Database Integration</a:t>
            </a:r>
            <a:endParaRPr lang="en-US" sz="1250" dirty="0"/>
          </a:p>
        </p:txBody>
      </p:sp>
      <p:sp>
        <p:nvSpPr>
          <p:cNvPr id="14" name="Text 9"/>
          <p:cNvSpPr txBox="1"/>
          <p:nvPr/>
        </p:nvSpPr>
        <p:spPr>
          <a:xfrm>
            <a:off x="1554480" y="3127248"/>
            <a:ext cx="3977640" cy="365760"/>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Mapping relational data cleanly with EF/MySQL</a:t>
            </a:r>
            <a:endParaRPr lang="en-US" sz="1050" dirty="0"/>
          </a:p>
        </p:txBody>
      </p:sp>
      <p:sp>
        <p:nvSpPr>
          <p:cNvPr id="15" name="Shape 10"/>
          <p:cNvSpPr/>
          <p:nvPr/>
        </p:nvSpPr>
        <p:spPr>
          <a:xfrm>
            <a:off x="914400" y="3886200"/>
            <a:ext cx="502920" cy="502920"/>
          </a:xfrm>
          <a:prstGeom prst="ellipse">
            <a:avLst/>
          </a:prstGeom>
          <a:solidFill>
            <a:srgbClr val="FFFFFF"/>
          </a:solidFill>
          <a:ln/>
        </p:spPr>
      </p:sp>
      <p:pic>
        <p:nvPicPr>
          <p:cNvPr id="16" name="Image 3" descr="/home/claude/ems_ppt/icons/ch_validation.png"/>
          <p:cNvPicPr>
            <a:picLocks noChangeAspect="1"/>
          </p:cNvPicPr>
          <p:nvPr/>
        </p:nvPicPr>
        <p:blipFill>
          <a:blip r:embed="rId5"/>
          <a:stretch>
            <a:fillRect/>
          </a:stretch>
        </p:blipFill>
        <p:spPr>
          <a:xfrm>
            <a:off x="1027557" y="3999357"/>
            <a:ext cx="276606" cy="276606"/>
          </a:xfrm>
          <a:prstGeom prst="rect">
            <a:avLst/>
          </a:prstGeom>
        </p:spPr>
      </p:pic>
      <p:sp>
        <p:nvSpPr>
          <p:cNvPr id="17" name="Text 11"/>
          <p:cNvSpPr txBox="1"/>
          <p:nvPr/>
        </p:nvSpPr>
        <p:spPr>
          <a:xfrm>
            <a:off x="1554480" y="3858768"/>
            <a:ext cx="3977640" cy="274320"/>
          </a:xfrm>
          <a:prstGeom prst="rect">
            <a:avLst/>
          </a:prstGeom>
          <a:noFill/>
          <a:ln/>
        </p:spPr>
        <p:txBody>
          <a:bodyPr wrap="square" lIns="0" tIns="0" rIns="0" bIns="0" rtlCol="0" anchor="ctr"/>
          <a:lstStyle/>
          <a:p>
            <a:pPr marL="0" indent="0">
              <a:buNone/>
            </a:pPr>
            <a:r>
              <a:rPr lang="en-US" sz="1250" b="1" dirty="0">
                <a:solidFill>
                  <a:srgbClr val="152A6B"/>
                </a:solidFill>
                <a:latin typeface="Calibri" pitchFamily="34" charset="0"/>
                <a:ea typeface="Calibri" pitchFamily="34" charset="-122"/>
                <a:cs typeface="Calibri" pitchFamily="34" charset="-120"/>
              </a:rPr>
              <a:t>Form Validation</a:t>
            </a:r>
            <a:endParaRPr lang="en-US" sz="1250" dirty="0"/>
          </a:p>
        </p:txBody>
      </p:sp>
      <p:sp>
        <p:nvSpPr>
          <p:cNvPr id="18" name="Text 12"/>
          <p:cNvSpPr txBox="1"/>
          <p:nvPr/>
        </p:nvSpPr>
        <p:spPr>
          <a:xfrm>
            <a:off x="1554480" y="4133088"/>
            <a:ext cx="3977640" cy="365760"/>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Ensuring accurate, safe data entry client &amp; server side</a:t>
            </a:r>
            <a:endParaRPr lang="en-US" sz="1050" dirty="0"/>
          </a:p>
        </p:txBody>
      </p:sp>
      <p:sp>
        <p:nvSpPr>
          <p:cNvPr id="19" name="Shape 13"/>
          <p:cNvSpPr/>
          <p:nvPr/>
        </p:nvSpPr>
        <p:spPr>
          <a:xfrm>
            <a:off x="914400" y="4892040"/>
            <a:ext cx="502920" cy="502920"/>
          </a:xfrm>
          <a:prstGeom prst="ellipse">
            <a:avLst/>
          </a:prstGeom>
          <a:solidFill>
            <a:srgbClr val="FFFFFF"/>
          </a:solidFill>
          <a:ln/>
        </p:spPr>
      </p:sp>
      <p:pic>
        <p:nvPicPr>
          <p:cNvPr id="20" name="Image 4" descr="/home/claude/ems_ppt/icons/ch_report.png"/>
          <p:cNvPicPr>
            <a:picLocks noChangeAspect="1"/>
          </p:cNvPicPr>
          <p:nvPr/>
        </p:nvPicPr>
        <p:blipFill>
          <a:blip r:embed="rId6"/>
          <a:stretch>
            <a:fillRect/>
          </a:stretch>
        </p:blipFill>
        <p:spPr>
          <a:xfrm>
            <a:off x="1027557" y="5005197"/>
            <a:ext cx="276606" cy="276606"/>
          </a:xfrm>
          <a:prstGeom prst="rect">
            <a:avLst/>
          </a:prstGeom>
        </p:spPr>
      </p:pic>
      <p:sp>
        <p:nvSpPr>
          <p:cNvPr id="21" name="Text 14"/>
          <p:cNvSpPr txBox="1"/>
          <p:nvPr/>
        </p:nvSpPr>
        <p:spPr>
          <a:xfrm>
            <a:off x="1554480" y="4864608"/>
            <a:ext cx="3977640" cy="274320"/>
          </a:xfrm>
          <a:prstGeom prst="rect">
            <a:avLst/>
          </a:prstGeom>
          <a:noFill/>
          <a:ln/>
        </p:spPr>
        <p:txBody>
          <a:bodyPr wrap="square" lIns="0" tIns="0" rIns="0" bIns="0" rtlCol="0" anchor="ctr"/>
          <a:lstStyle/>
          <a:p>
            <a:pPr marL="0" indent="0">
              <a:buNone/>
            </a:pPr>
            <a:r>
              <a:rPr lang="en-US" sz="1250" b="1" dirty="0">
                <a:solidFill>
                  <a:srgbClr val="152A6B"/>
                </a:solidFill>
                <a:latin typeface="Calibri" pitchFamily="34" charset="0"/>
                <a:ea typeface="Calibri" pitchFamily="34" charset="-122"/>
                <a:cs typeface="Calibri" pitchFamily="34" charset="-120"/>
              </a:rPr>
              <a:t>Report Generation</a:t>
            </a:r>
            <a:endParaRPr lang="en-US" sz="1250" dirty="0"/>
          </a:p>
        </p:txBody>
      </p:sp>
      <p:sp>
        <p:nvSpPr>
          <p:cNvPr id="22" name="Text 15"/>
          <p:cNvSpPr txBox="1"/>
          <p:nvPr/>
        </p:nvSpPr>
        <p:spPr>
          <a:xfrm>
            <a:off x="1554480" y="5138928"/>
            <a:ext cx="3977640" cy="365760"/>
          </a:xfrm>
          <a:prstGeom prst="rect">
            <a:avLst/>
          </a:prstGeom>
          <a:noFill/>
          <a:ln/>
        </p:spPr>
        <p:txBody>
          <a:bodyPr wrap="square" lIns="0" tIns="0" rIns="0" bIns="0" rtlCol="0" anchor="ctr"/>
          <a:lstStyle/>
          <a:p>
            <a:pPr marL="0" indent="0">
              <a:buNone/>
            </a:pPr>
            <a:r>
              <a:rPr lang="en-US" sz="1050" dirty="0">
                <a:solidFill>
                  <a:srgbClr val="5B6584"/>
                </a:solidFill>
                <a:latin typeface="Calibri" pitchFamily="34" charset="0"/>
                <a:ea typeface="Calibri" pitchFamily="34" charset="-122"/>
                <a:cs typeface="Calibri" pitchFamily="34" charset="-120"/>
              </a:rPr>
              <a:t>Aggregating multi-table data into readable reports</a:t>
            </a:r>
            <a:endParaRPr lang="en-US" sz="1050" dirty="0"/>
          </a:p>
        </p:txBody>
      </p:sp>
      <p:sp>
        <p:nvSpPr>
          <p:cNvPr id="23" name="Shape 16"/>
          <p:cNvSpPr/>
          <p:nvPr/>
        </p:nvSpPr>
        <p:spPr>
          <a:xfrm>
            <a:off x="6355080" y="1691640"/>
            <a:ext cx="5257800" cy="4480560"/>
          </a:xfrm>
          <a:prstGeom prst="roundRect">
            <a:avLst>
              <a:gd name="adj" fmla="val 2041"/>
            </a:avLst>
          </a:prstGeom>
          <a:solidFill>
            <a:srgbClr val="152A6B"/>
          </a:solidFill>
          <a:ln/>
        </p:spPr>
      </p:sp>
      <p:sp>
        <p:nvSpPr>
          <p:cNvPr id="24" name="Shape 17"/>
          <p:cNvSpPr/>
          <p:nvPr/>
        </p:nvSpPr>
        <p:spPr>
          <a:xfrm>
            <a:off x="6675120" y="2011680"/>
            <a:ext cx="685800" cy="685800"/>
          </a:xfrm>
          <a:prstGeom prst="ellipse">
            <a:avLst/>
          </a:prstGeom>
          <a:solidFill>
            <a:srgbClr val="2F6FED"/>
          </a:solidFill>
          <a:ln/>
        </p:spPr>
      </p:sp>
      <p:pic>
        <p:nvPicPr>
          <p:cNvPr id="25" name="Image 5" descr="/home/claude/ems_ppt/icons/future.png"/>
          <p:cNvPicPr>
            <a:picLocks noChangeAspect="1"/>
          </p:cNvPicPr>
          <p:nvPr/>
        </p:nvPicPr>
        <p:blipFill>
          <a:blip r:embed="rId7"/>
          <a:stretch>
            <a:fillRect/>
          </a:stretch>
        </p:blipFill>
        <p:spPr>
          <a:xfrm>
            <a:off x="6846570" y="2183130"/>
            <a:ext cx="342900" cy="342900"/>
          </a:xfrm>
          <a:prstGeom prst="rect">
            <a:avLst/>
          </a:prstGeom>
        </p:spPr>
      </p:pic>
      <p:sp>
        <p:nvSpPr>
          <p:cNvPr id="26" name="Text 18"/>
          <p:cNvSpPr txBox="1"/>
          <p:nvPr/>
        </p:nvSpPr>
        <p:spPr>
          <a:xfrm>
            <a:off x="7498080" y="2075688"/>
            <a:ext cx="38862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Future Enhancements</a:t>
            </a:r>
            <a:endParaRPr lang="en-US" sz="1800" dirty="0"/>
          </a:p>
        </p:txBody>
      </p:sp>
      <p:sp>
        <p:nvSpPr>
          <p:cNvPr id="27" name="Shape 19"/>
          <p:cNvSpPr/>
          <p:nvPr/>
        </p:nvSpPr>
        <p:spPr>
          <a:xfrm>
            <a:off x="6720840" y="2880360"/>
            <a:ext cx="502920" cy="502920"/>
          </a:xfrm>
          <a:prstGeom prst="ellipse">
            <a:avLst/>
          </a:prstGeom>
          <a:solidFill>
            <a:srgbClr val="1E3A8A"/>
          </a:solidFill>
          <a:ln/>
        </p:spPr>
      </p:sp>
      <p:pic>
        <p:nvPicPr>
          <p:cNvPr id="28" name="Image 6" descr="/home/claude/ems_ppt/icons/fu_email.png"/>
          <p:cNvPicPr>
            <a:picLocks noChangeAspect="1"/>
          </p:cNvPicPr>
          <p:nvPr/>
        </p:nvPicPr>
        <p:blipFill>
          <a:blip r:embed="rId8"/>
          <a:stretch>
            <a:fillRect/>
          </a:stretch>
        </p:blipFill>
        <p:spPr>
          <a:xfrm>
            <a:off x="6833997" y="2993517"/>
            <a:ext cx="276606" cy="276606"/>
          </a:xfrm>
          <a:prstGeom prst="rect">
            <a:avLst/>
          </a:prstGeom>
        </p:spPr>
      </p:pic>
      <p:sp>
        <p:nvSpPr>
          <p:cNvPr id="29" name="Text 20"/>
          <p:cNvSpPr txBox="1"/>
          <p:nvPr/>
        </p:nvSpPr>
        <p:spPr>
          <a:xfrm>
            <a:off x="7406640" y="2971800"/>
            <a:ext cx="3886200" cy="365760"/>
          </a:xfrm>
          <a:prstGeom prst="rect">
            <a:avLst/>
          </a:prstGeom>
          <a:noFill/>
          <a:ln/>
        </p:spPr>
        <p:txBody>
          <a:bodyPr wrap="square" lIns="0" tIns="0" rIns="0" bIns="0" rtlCol="0" anchor="ctr"/>
          <a:lstStyle/>
          <a:p>
            <a:pPr marL="0" indent="0">
              <a:buNone/>
            </a:pPr>
            <a:r>
              <a:rPr lang="en-US" sz="1300" b="1" dirty="0">
                <a:solidFill>
                  <a:srgbClr val="D6E4FA"/>
                </a:solidFill>
                <a:latin typeface="Calibri" pitchFamily="34" charset="0"/>
                <a:ea typeface="Calibri" pitchFamily="34" charset="-122"/>
                <a:cs typeface="Calibri" pitchFamily="34" charset="-120"/>
              </a:rPr>
              <a:t>Email Notifications</a:t>
            </a:r>
            <a:endParaRPr lang="en-US" sz="1300" dirty="0"/>
          </a:p>
        </p:txBody>
      </p:sp>
      <p:sp>
        <p:nvSpPr>
          <p:cNvPr id="30" name="Shape 21"/>
          <p:cNvSpPr/>
          <p:nvPr/>
        </p:nvSpPr>
        <p:spPr>
          <a:xfrm>
            <a:off x="6720840" y="3703320"/>
            <a:ext cx="502920" cy="502920"/>
          </a:xfrm>
          <a:prstGeom prst="ellipse">
            <a:avLst/>
          </a:prstGeom>
          <a:solidFill>
            <a:srgbClr val="1E3A8A"/>
          </a:solidFill>
          <a:ln/>
        </p:spPr>
      </p:sp>
      <p:pic>
        <p:nvPicPr>
          <p:cNvPr id="31" name="Image 7" descr="/home/claude/ems_ppt/icons/fu_mobile.png"/>
          <p:cNvPicPr>
            <a:picLocks noChangeAspect="1"/>
          </p:cNvPicPr>
          <p:nvPr/>
        </p:nvPicPr>
        <p:blipFill>
          <a:blip r:embed="rId9"/>
          <a:stretch>
            <a:fillRect/>
          </a:stretch>
        </p:blipFill>
        <p:spPr>
          <a:xfrm>
            <a:off x="6833997" y="3816477"/>
            <a:ext cx="276606" cy="276606"/>
          </a:xfrm>
          <a:prstGeom prst="rect">
            <a:avLst/>
          </a:prstGeom>
        </p:spPr>
      </p:pic>
      <p:sp>
        <p:nvSpPr>
          <p:cNvPr id="32" name="Text 22"/>
          <p:cNvSpPr txBox="1"/>
          <p:nvPr/>
        </p:nvSpPr>
        <p:spPr>
          <a:xfrm>
            <a:off x="7406640" y="3794760"/>
            <a:ext cx="3886200" cy="365760"/>
          </a:xfrm>
          <a:prstGeom prst="rect">
            <a:avLst/>
          </a:prstGeom>
          <a:noFill/>
          <a:ln/>
        </p:spPr>
        <p:txBody>
          <a:bodyPr wrap="square" lIns="0" tIns="0" rIns="0" bIns="0" rtlCol="0" anchor="ctr"/>
          <a:lstStyle/>
          <a:p>
            <a:pPr marL="0" indent="0">
              <a:buNone/>
            </a:pPr>
            <a:r>
              <a:rPr lang="en-US" sz="1300" b="1" dirty="0">
                <a:solidFill>
                  <a:srgbClr val="D6E4FA"/>
                </a:solidFill>
                <a:latin typeface="Calibri" pitchFamily="34" charset="0"/>
                <a:ea typeface="Calibri" pitchFamily="34" charset="-122"/>
                <a:cs typeface="Calibri" pitchFamily="34" charset="-120"/>
              </a:rPr>
              <a:t>Mobile Application</a:t>
            </a:r>
            <a:endParaRPr lang="en-US" sz="1300" dirty="0"/>
          </a:p>
        </p:txBody>
      </p:sp>
      <p:sp>
        <p:nvSpPr>
          <p:cNvPr id="33" name="Shape 23"/>
          <p:cNvSpPr/>
          <p:nvPr/>
        </p:nvSpPr>
        <p:spPr>
          <a:xfrm>
            <a:off x="6720840" y="4526280"/>
            <a:ext cx="502920" cy="502920"/>
          </a:xfrm>
          <a:prstGeom prst="ellipse">
            <a:avLst/>
          </a:prstGeom>
          <a:solidFill>
            <a:srgbClr val="1E3A8A"/>
          </a:solidFill>
          <a:ln/>
        </p:spPr>
      </p:sp>
      <p:pic>
        <p:nvPicPr>
          <p:cNvPr id="34" name="Image 8" descr="/home/claude/ems_ppt/icons/fu_biometric.png"/>
          <p:cNvPicPr>
            <a:picLocks noChangeAspect="1"/>
          </p:cNvPicPr>
          <p:nvPr/>
        </p:nvPicPr>
        <p:blipFill>
          <a:blip r:embed="rId10"/>
          <a:stretch>
            <a:fillRect/>
          </a:stretch>
        </p:blipFill>
        <p:spPr>
          <a:xfrm>
            <a:off x="6833997" y="4639437"/>
            <a:ext cx="276606" cy="276606"/>
          </a:xfrm>
          <a:prstGeom prst="rect">
            <a:avLst/>
          </a:prstGeom>
        </p:spPr>
      </p:pic>
      <p:sp>
        <p:nvSpPr>
          <p:cNvPr id="35" name="Text 24"/>
          <p:cNvSpPr txBox="1"/>
          <p:nvPr/>
        </p:nvSpPr>
        <p:spPr>
          <a:xfrm>
            <a:off x="7406640" y="4617720"/>
            <a:ext cx="3886200" cy="365760"/>
          </a:xfrm>
          <a:prstGeom prst="rect">
            <a:avLst/>
          </a:prstGeom>
          <a:noFill/>
          <a:ln/>
        </p:spPr>
        <p:txBody>
          <a:bodyPr wrap="square" lIns="0" tIns="0" rIns="0" bIns="0" rtlCol="0" anchor="ctr"/>
          <a:lstStyle/>
          <a:p>
            <a:pPr marL="0" indent="0">
              <a:buNone/>
            </a:pPr>
            <a:r>
              <a:rPr lang="en-US" sz="1300" b="1" dirty="0">
                <a:solidFill>
                  <a:srgbClr val="D6E4FA"/>
                </a:solidFill>
                <a:latin typeface="Calibri" pitchFamily="34" charset="0"/>
                <a:ea typeface="Calibri" pitchFamily="34" charset="-122"/>
                <a:cs typeface="Calibri" pitchFamily="34" charset="-120"/>
              </a:rPr>
              <a:t>Biometric Attendance</a:t>
            </a:r>
            <a:endParaRPr lang="en-US" sz="1300" dirty="0"/>
          </a:p>
        </p:txBody>
      </p:sp>
      <p:sp>
        <p:nvSpPr>
          <p:cNvPr id="36" name="Shape 25"/>
          <p:cNvSpPr/>
          <p:nvPr/>
        </p:nvSpPr>
        <p:spPr>
          <a:xfrm>
            <a:off x="6720840" y="5349240"/>
            <a:ext cx="502920" cy="502920"/>
          </a:xfrm>
          <a:prstGeom prst="ellipse">
            <a:avLst/>
          </a:prstGeom>
          <a:solidFill>
            <a:srgbClr val="1E3A8A"/>
          </a:solidFill>
          <a:ln/>
        </p:spPr>
      </p:sp>
      <p:pic>
        <p:nvPicPr>
          <p:cNvPr id="37" name="Image 9" descr="/home/claude/ems_ppt/icons/fu_analytics.png"/>
          <p:cNvPicPr>
            <a:picLocks noChangeAspect="1"/>
          </p:cNvPicPr>
          <p:nvPr/>
        </p:nvPicPr>
        <p:blipFill>
          <a:blip r:embed="rId11"/>
          <a:stretch>
            <a:fillRect/>
          </a:stretch>
        </p:blipFill>
        <p:spPr>
          <a:xfrm>
            <a:off x="6833997" y="5462397"/>
            <a:ext cx="276606" cy="276606"/>
          </a:xfrm>
          <a:prstGeom prst="rect">
            <a:avLst/>
          </a:prstGeom>
        </p:spPr>
      </p:pic>
      <p:sp>
        <p:nvSpPr>
          <p:cNvPr id="38" name="Text 26"/>
          <p:cNvSpPr txBox="1"/>
          <p:nvPr/>
        </p:nvSpPr>
        <p:spPr>
          <a:xfrm>
            <a:off x="7406640" y="5440680"/>
            <a:ext cx="3886200" cy="365760"/>
          </a:xfrm>
          <a:prstGeom prst="rect">
            <a:avLst/>
          </a:prstGeom>
          <a:noFill/>
          <a:ln/>
        </p:spPr>
        <p:txBody>
          <a:bodyPr wrap="square" lIns="0" tIns="0" rIns="0" bIns="0" rtlCol="0" anchor="ctr"/>
          <a:lstStyle/>
          <a:p>
            <a:pPr marL="0" indent="0">
              <a:buNone/>
            </a:pPr>
            <a:r>
              <a:rPr lang="en-US" sz="1300" b="1" dirty="0">
                <a:solidFill>
                  <a:srgbClr val="D6E4FA"/>
                </a:solidFill>
                <a:latin typeface="Calibri" pitchFamily="34" charset="0"/>
                <a:ea typeface="Calibri" pitchFamily="34" charset="-122"/>
                <a:cs typeface="Calibri" pitchFamily="34" charset="-120"/>
              </a:rPr>
              <a:t>Advanced Analytics</a:t>
            </a:r>
            <a:endParaRPr lang="en-US" sz="1300" dirty="0"/>
          </a:p>
        </p:txBody>
      </p:sp>
      <p:sp>
        <p:nvSpPr>
          <p:cNvPr id="39" name="Text 27"/>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40" name="Text 28"/>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00" dirty="0">
                <a:solidFill>
                  <a:srgbClr val="2F6FED"/>
                </a:solidFill>
                <a:latin typeface="Calibri" pitchFamily="34" charset="0"/>
                <a:ea typeface="Calibri" pitchFamily="34" charset="-122"/>
                <a:cs typeface="Calibri" pitchFamily="34" charset="-120"/>
              </a:rPr>
              <a:t>WRAPPING UP</a:t>
            </a:r>
            <a:endParaRPr lang="en-US" sz="1100" dirty="0"/>
          </a:p>
        </p:txBody>
      </p:sp>
      <p:sp>
        <p:nvSpPr>
          <p:cNvPr id="3" name="Text 1"/>
          <p:cNvSpPr txBox="1"/>
          <p:nvPr/>
        </p:nvSpPr>
        <p:spPr>
          <a:xfrm>
            <a:off x="548640" y="621792"/>
            <a:ext cx="9601200" cy="640080"/>
          </a:xfrm>
          <a:prstGeom prst="rect">
            <a:avLst/>
          </a:prstGeom>
          <a:noFill/>
          <a:ln/>
        </p:spPr>
        <p:txBody>
          <a:bodyPr wrap="square" lIns="0" tIns="0" rIns="0" bIns="0" rtlCol="0" anchor="ctr"/>
          <a:lstStyle/>
          <a:p>
            <a:pPr marL="0" indent="0">
              <a:buNone/>
            </a:pPr>
            <a:r>
              <a:rPr lang="en-US" sz="3000" b="1" dirty="0">
                <a:solidFill>
                  <a:srgbClr val="152A6B"/>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10835640" y="457200"/>
            <a:ext cx="777240" cy="777240"/>
          </a:xfrm>
          <a:prstGeom prst="ellipse">
            <a:avLst/>
          </a:prstGeom>
          <a:solidFill>
            <a:srgbClr val="152A6B"/>
          </a:solidFill>
          <a:ln/>
        </p:spPr>
      </p:sp>
      <p:pic>
        <p:nvPicPr>
          <p:cNvPr id="5" name="Image 0" descr="/home/claude/ems_ppt/icons/conclusion_check.png"/>
          <p:cNvPicPr>
            <a:picLocks noChangeAspect="1"/>
          </p:cNvPicPr>
          <p:nvPr/>
        </p:nvPicPr>
        <p:blipFill>
          <a:blip r:embed="rId3"/>
          <a:stretch>
            <a:fillRect/>
          </a:stretch>
        </p:blipFill>
        <p:spPr>
          <a:xfrm>
            <a:off x="11055096" y="676656"/>
            <a:ext cx="338328" cy="338328"/>
          </a:xfrm>
          <a:prstGeom prst="rect">
            <a:avLst/>
          </a:prstGeom>
        </p:spPr>
      </p:pic>
      <p:sp>
        <p:nvSpPr>
          <p:cNvPr id="6" name="Shape 3"/>
          <p:cNvSpPr/>
          <p:nvPr/>
        </p:nvSpPr>
        <p:spPr>
          <a:xfrm>
            <a:off x="548640" y="1298448"/>
            <a:ext cx="11091672" cy="0"/>
          </a:xfrm>
          <a:prstGeom prst="line">
            <a:avLst/>
          </a:prstGeom>
          <a:noFill/>
          <a:ln w="12700">
            <a:solidFill>
              <a:srgbClr val="C9D5EE"/>
            </a:solidFill>
            <a:prstDash val="solid"/>
          </a:ln>
        </p:spPr>
      </p:sp>
      <p:sp>
        <p:nvSpPr>
          <p:cNvPr id="7" name="Text 4"/>
          <p:cNvSpPr txBox="1"/>
          <p:nvPr/>
        </p:nvSpPr>
        <p:spPr>
          <a:xfrm>
            <a:off x="548640" y="1691640"/>
            <a:ext cx="6035040" cy="365760"/>
          </a:xfrm>
          <a:prstGeom prst="rect">
            <a:avLst/>
          </a:prstGeom>
          <a:noFill/>
          <a:ln/>
        </p:spPr>
        <p:txBody>
          <a:bodyPr wrap="square" lIns="0" tIns="0" rIns="0" bIns="0" rtlCol="0" anchor="ctr"/>
          <a:lstStyle/>
          <a:p>
            <a:pPr marL="0" indent="0">
              <a:buNone/>
            </a:pPr>
            <a:r>
              <a:rPr lang="en-US" sz="1700" b="1" dirty="0">
                <a:solidFill>
                  <a:srgbClr val="152A6B"/>
                </a:solidFill>
                <a:latin typeface="Cambria" pitchFamily="34" charset="0"/>
                <a:ea typeface="Cambria" pitchFamily="34" charset="-122"/>
                <a:cs typeface="Cambria" pitchFamily="34" charset="-120"/>
              </a:rPr>
              <a:t>Key Achievements</a:t>
            </a:r>
            <a:endParaRPr lang="en-US" sz="1700" dirty="0"/>
          </a:p>
        </p:txBody>
      </p:sp>
      <p:sp>
        <p:nvSpPr>
          <p:cNvPr id="8" name="Text 5"/>
          <p:cNvSpPr txBox="1"/>
          <p:nvPr/>
        </p:nvSpPr>
        <p:spPr>
          <a:xfrm>
            <a:off x="548640" y="2103120"/>
            <a:ext cx="6035040" cy="2743200"/>
          </a:xfrm>
          <a:prstGeom prst="rect">
            <a:avLst/>
          </a:prstGeom>
          <a:noFill/>
          <a:ln/>
        </p:spPr>
        <p:txBody>
          <a:bodyPr wrap="square" lIns="0" tIns="0" rIns="0" bIns="0" rtlCol="0" anchor="t"/>
          <a:lstStyle/>
          <a:p>
            <a:pPr marL="228600" indent="-228600" algn="l">
              <a:spcAft>
                <a:spcPts val="1200"/>
              </a:spcAft>
              <a:buSzPct val="100000"/>
              <a:buChar char="✦"/>
            </a:pPr>
            <a:r>
              <a:rPr lang="en-US" sz="1350" dirty="0">
                <a:solidFill>
                  <a:srgbClr val="1B2340"/>
                </a:solidFill>
                <a:latin typeface="Calibri" pitchFamily="34" charset="0"/>
                <a:ea typeface="Calibri" pitchFamily="34" charset="-122"/>
                <a:cs typeface="Calibri" pitchFamily="34" charset="-120"/>
              </a:rPr>
              <a:t>Delivered a fully functional web-based HR management system</a:t>
            </a:r>
            <a:endParaRPr lang="en-US" sz="1350" dirty="0"/>
          </a:p>
          <a:p>
            <a:pPr marL="228600" indent="-228600" algn="l">
              <a:spcAft>
                <a:spcPts val="1200"/>
              </a:spcAft>
              <a:buSzPct val="100000"/>
              <a:buChar char="✦"/>
            </a:pPr>
            <a:r>
              <a:rPr lang="en-US" sz="1350" dirty="0">
                <a:solidFill>
                  <a:srgbClr val="1B2340"/>
                </a:solidFill>
                <a:latin typeface="Calibri" pitchFamily="34" charset="0"/>
                <a:ea typeface="Calibri" pitchFamily="34" charset="-122"/>
                <a:cs typeface="Calibri" pitchFamily="34" charset="-120"/>
              </a:rPr>
              <a:t>Implemented secure login and role-based access control</a:t>
            </a:r>
            <a:endParaRPr lang="en-US" sz="1350" dirty="0"/>
          </a:p>
          <a:p>
            <a:pPr marL="228600" indent="-228600" algn="l">
              <a:spcAft>
                <a:spcPts val="1200"/>
              </a:spcAft>
              <a:buSzPct val="100000"/>
              <a:buChar char="✦"/>
            </a:pPr>
            <a:r>
              <a:rPr lang="en-US" sz="1350" dirty="0">
                <a:solidFill>
                  <a:srgbClr val="1B2340"/>
                </a:solidFill>
                <a:latin typeface="Calibri" pitchFamily="34" charset="0"/>
                <a:ea typeface="Calibri" pitchFamily="34" charset="-122"/>
                <a:cs typeface="Calibri" pitchFamily="34" charset="-120"/>
              </a:rPr>
              <a:t>Automated attendance, leave, and payroll workflows</a:t>
            </a:r>
            <a:endParaRPr lang="en-US" sz="1350" dirty="0"/>
          </a:p>
          <a:p>
            <a:pPr marL="228600" indent="-228600" algn="l">
              <a:spcAft>
                <a:spcPts val="1200"/>
              </a:spcAft>
              <a:buSzPct val="100000"/>
              <a:buChar char="✦"/>
            </a:pPr>
            <a:r>
              <a:rPr lang="en-US" sz="1350" dirty="0">
                <a:solidFill>
                  <a:srgbClr val="1B2340"/>
                </a:solidFill>
                <a:latin typeface="Calibri" pitchFamily="34" charset="0"/>
                <a:ea typeface="Calibri" pitchFamily="34" charset="-122"/>
                <a:cs typeface="Calibri" pitchFamily="34" charset="-120"/>
              </a:rPr>
              <a:t>Centralized reporting for informed decision-making</a:t>
            </a:r>
            <a:endParaRPr lang="en-US" sz="1350" dirty="0"/>
          </a:p>
          <a:p>
            <a:pPr marL="228600" indent="-228600" algn="l">
              <a:spcAft>
                <a:spcPts val="1200"/>
              </a:spcAft>
              <a:buSzPct val="100000"/>
              <a:buChar char="✦"/>
            </a:pPr>
            <a:r>
              <a:rPr lang="en-US" sz="1350" dirty="0">
                <a:solidFill>
                  <a:srgbClr val="1B2340"/>
                </a:solidFill>
                <a:latin typeface="Calibri" pitchFamily="34" charset="0"/>
                <a:ea typeface="Calibri" pitchFamily="34" charset="-122"/>
                <a:cs typeface="Calibri" pitchFamily="34" charset="-120"/>
              </a:rPr>
              <a:t>Built on a scalable ASP.NET Core MVC architecture</a:t>
            </a:r>
            <a:endParaRPr lang="en-US" sz="1350" dirty="0"/>
          </a:p>
        </p:txBody>
      </p:sp>
      <p:sp>
        <p:nvSpPr>
          <p:cNvPr id="9" name="Shape 6"/>
          <p:cNvSpPr/>
          <p:nvPr/>
        </p:nvSpPr>
        <p:spPr>
          <a:xfrm>
            <a:off x="6949440" y="1691640"/>
            <a:ext cx="4709160" cy="4480560"/>
          </a:xfrm>
          <a:prstGeom prst="roundRect">
            <a:avLst>
              <a:gd name="adj" fmla="val 2041"/>
            </a:avLst>
          </a:prstGeom>
          <a:solidFill>
            <a:srgbClr val="152A6B"/>
          </a:solidFill>
          <a:ln/>
        </p:spPr>
      </p:sp>
      <p:sp>
        <p:nvSpPr>
          <p:cNvPr id="10" name="Shape 7"/>
          <p:cNvSpPr/>
          <p:nvPr/>
        </p:nvSpPr>
        <p:spPr>
          <a:xfrm>
            <a:off x="8801100" y="2011680"/>
            <a:ext cx="1005840" cy="1005840"/>
          </a:xfrm>
          <a:prstGeom prst="ellipse">
            <a:avLst/>
          </a:prstGeom>
          <a:solidFill>
            <a:srgbClr val="2F6FED"/>
          </a:solidFill>
          <a:ln/>
        </p:spPr>
      </p:sp>
      <p:pic>
        <p:nvPicPr>
          <p:cNvPr id="11" name="Image 1" descr="/home/claude/ems_ppt/icons/trophy.png"/>
          <p:cNvPicPr>
            <a:picLocks noChangeAspect="1"/>
          </p:cNvPicPr>
          <p:nvPr/>
        </p:nvPicPr>
        <p:blipFill>
          <a:blip r:embed="rId4"/>
          <a:stretch>
            <a:fillRect/>
          </a:stretch>
        </p:blipFill>
        <p:spPr>
          <a:xfrm>
            <a:off x="9052560" y="2263140"/>
            <a:ext cx="502920" cy="502920"/>
          </a:xfrm>
          <a:prstGeom prst="rect">
            <a:avLst/>
          </a:prstGeom>
        </p:spPr>
      </p:pic>
      <p:sp>
        <p:nvSpPr>
          <p:cNvPr id="12" name="Text 8"/>
          <p:cNvSpPr txBox="1"/>
          <p:nvPr/>
        </p:nvSpPr>
        <p:spPr>
          <a:xfrm>
            <a:off x="7223760" y="3154680"/>
            <a:ext cx="4160520" cy="8229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 Practical, Scalable</a:t>
            </a:r>
            <a:endParaRPr lang="en-US" sz="1700" dirty="0"/>
          </a:p>
          <a:p>
            <a:pPr marL="0" indent="0" algn="ctr">
              <a:buNone/>
            </a:pPr>
            <a:r>
              <a:rPr lang="en-US" sz="1700" b="1" dirty="0">
                <a:solidFill>
                  <a:srgbClr val="FFFFFF"/>
                </a:solidFill>
                <a:latin typeface="Cambria" pitchFamily="34" charset="0"/>
                <a:ea typeface="Cambria" pitchFamily="34" charset="-122"/>
                <a:cs typeface="Cambria" pitchFamily="34" charset="-120"/>
              </a:rPr>
              <a:t>HR Solution</a:t>
            </a:r>
            <a:endParaRPr lang="en-US" sz="1700" dirty="0"/>
          </a:p>
        </p:txBody>
      </p:sp>
      <p:sp>
        <p:nvSpPr>
          <p:cNvPr id="13" name="Text 9"/>
          <p:cNvSpPr txBox="1"/>
          <p:nvPr/>
        </p:nvSpPr>
        <p:spPr>
          <a:xfrm>
            <a:off x="7315200" y="4023360"/>
            <a:ext cx="3977640" cy="1920240"/>
          </a:xfrm>
          <a:prstGeom prst="rect">
            <a:avLst/>
          </a:prstGeom>
          <a:noFill/>
          <a:ln/>
        </p:spPr>
        <p:txBody>
          <a:bodyPr wrap="square" lIns="0" tIns="0" rIns="0" bIns="0" rtlCol="0" anchor="t"/>
          <a:lstStyle/>
          <a:p>
            <a:pPr marL="0" indent="0" algn="ctr">
              <a:buNone/>
            </a:pPr>
            <a:r>
              <a:rPr lang="en-US" sz="1250" dirty="0">
                <a:solidFill>
                  <a:srgbClr val="D6E4FA"/>
                </a:solidFill>
                <a:latin typeface="Calibri" pitchFamily="34" charset="0"/>
                <a:ea typeface="Calibri" pitchFamily="34" charset="-122"/>
                <a:cs typeface="Calibri" pitchFamily="34" charset="-120"/>
              </a:rPr>
              <a:t>This project demonstrates how modern web technologies can solve real organizational challenges — improving accuracy, saving time, and giving management clear visibility into their workforce.</a:t>
            </a:r>
            <a:endParaRPr lang="en-US" sz="1250" dirty="0"/>
          </a:p>
        </p:txBody>
      </p:sp>
      <p:sp>
        <p:nvSpPr>
          <p:cNvPr id="14" name="Text 10"/>
          <p:cNvSpPr txBox="1"/>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rgbClr val="5B6584"/>
                </a:solidFill>
                <a:latin typeface="Calibri" pitchFamily="34" charset="0"/>
                <a:ea typeface="Calibri" pitchFamily="34" charset="-122"/>
                <a:cs typeface="Calibri" pitchFamily="34" charset="-120"/>
              </a:rPr>
              <a:t>Employee Management System</a:t>
            </a:r>
            <a:endParaRPr lang="en-US" sz="1000" dirty="0"/>
          </a:p>
        </p:txBody>
      </p:sp>
      <p:sp>
        <p:nvSpPr>
          <p:cNvPr id="15" name="Text 11"/>
          <p:cNvSpPr txBox="1"/>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A6B"/>
        </a:solidFill>
        <a:effectLst/>
      </p:bgPr>
    </p:bg>
    <p:spTree>
      <p:nvGrpSpPr>
        <p:cNvPr id="1" name=""/>
        <p:cNvGrpSpPr/>
        <p:nvPr/>
      </p:nvGrpSpPr>
      <p:grpSpPr>
        <a:xfrm>
          <a:off x="0" y="0"/>
          <a:ext cx="0" cy="0"/>
          <a:chOff x="0" y="0"/>
          <a:chExt cx="0" cy="0"/>
        </a:xfrm>
      </p:grpSpPr>
      <p:sp>
        <p:nvSpPr>
          <p:cNvPr id="2" name="Shape 0"/>
          <p:cNvSpPr/>
          <p:nvPr/>
        </p:nvSpPr>
        <p:spPr>
          <a:xfrm>
            <a:off x="-2011680" y="-2377440"/>
            <a:ext cx="5943600" cy="5943600"/>
          </a:xfrm>
          <a:prstGeom prst="ellipse">
            <a:avLst/>
          </a:prstGeom>
          <a:solidFill>
            <a:srgbClr val="0E1D4D"/>
          </a:solidFill>
          <a:ln/>
        </p:spPr>
      </p:sp>
      <p:sp>
        <p:nvSpPr>
          <p:cNvPr id="3" name="Shape 1"/>
          <p:cNvSpPr/>
          <p:nvPr/>
        </p:nvSpPr>
        <p:spPr>
          <a:xfrm>
            <a:off x="9692640" y="4480560"/>
            <a:ext cx="4206240" cy="4206240"/>
          </a:xfrm>
          <a:prstGeom prst="ellipse">
            <a:avLst/>
          </a:prstGeom>
          <a:solidFill>
            <a:srgbClr val="2F6FED"/>
          </a:solidFill>
          <a:ln/>
        </p:spPr>
      </p:sp>
      <p:sp>
        <p:nvSpPr>
          <p:cNvPr id="4" name="Shape 2"/>
          <p:cNvSpPr/>
          <p:nvPr/>
        </p:nvSpPr>
        <p:spPr>
          <a:xfrm>
            <a:off x="5501488" y="1554480"/>
            <a:ext cx="1188720" cy="1188720"/>
          </a:xfrm>
          <a:prstGeom prst="ellipse">
            <a:avLst/>
          </a:prstGeom>
          <a:solidFill>
            <a:srgbClr val="FFFFFF"/>
          </a:solidFill>
          <a:ln/>
        </p:spPr>
      </p:sp>
      <p:pic>
        <p:nvPicPr>
          <p:cNvPr id="5" name="Image 0" descr="/home/claude/ems_ppt/icons/handshake.png"/>
          <p:cNvPicPr>
            <a:picLocks noChangeAspect="1"/>
          </p:cNvPicPr>
          <p:nvPr/>
        </p:nvPicPr>
        <p:blipFill>
          <a:blip r:embed="rId3"/>
          <a:stretch>
            <a:fillRect/>
          </a:stretch>
        </p:blipFill>
        <p:spPr>
          <a:xfrm>
            <a:off x="5798668" y="1851660"/>
            <a:ext cx="594360" cy="594360"/>
          </a:xfrm>
          <a:prstGeom prst="rect">
            <a:avLst/>
          </a:prstGeom>
        </p:spPr>
      </p:pic>
      <p:sp>
        <p:nvSpPr>
          <p:cNvPr id="6" name="Text 3"/>
          <p:cNvSpPr txBox="1"/>
          <p:nvPr/>
        </p:nvSpPr>
        <p:spPr>
          <a:xfrm>
            <a:off x="0" y="2971800"/>
            <a:ext cx="12191695"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8" name="Shape 5"/>
          <p:cNvSpPr/>
          <p:nvPr/>
        </p:nvSpPr>
        <p:spPr>
          <a:xfrm>
            <a:off x="4632808" y="4343400"/>
            <a:ext cx="2926080" cy="0"/>
          </a:xfrm>
          <a:prstGeom prst="line">
            <a:avLst/>
          </a:prstGeom>
          <a:noFill/>
          <a:ln w="31750">
            <a:solidFill>
              <a:srgbClr val="2F6FED"/>
            </a:solidFill>
            <a:prstDash val="solid"/>
          </a:ln>
        </p:spPr>
      </p:sp>
      <p:sp>
        <p:nvSpPr>
          <p:cNvPr id="9" name="Text 6"/>
          <p:cNvSpPr txBox="1"/>
          <p:nvPr/>
        </p:nvSpPr>
        <p:spPr>
          <a:xfrm>
            <a:off x="0" y="6126480"/>
            <a:ext cx="12191695" cy="365760"/>
          </a:xfrm>
          <a:prstGeom prst="rect">
            <a:avLst/>
          </a:prstGeom>
          <a:noFill/>
          <a:ln/>
        </p:spPr>
        <p:txBody>
          <a:bodyPr wrap="square" lIns="0" tIns="0" rIns="0" bIns="0" rtlCol="0" anchor="ctr"/>
          <a:lstStyle/>
          <a:p>
            <a:pPr marL="0" indent="0" algn="ctr">
              <a:buNone/>
            </a:pPr>
            <a:r>
              <a:rPr lang="en-US" sz="1150" dirty="0">
                <a:solidFill>
                  <a:srgbClr val="D6E4FA"/>
                </a:solidFill>
                <a:latin typeface="Calibri" pitchFamily="34" charset="0"/>
                <a:ea typeface="Calibri" pitchFamily="34" charset="-122"/>
                <a:cs typeface="Calibri" pitchFamily="34" charset="-120"/>
              </a:rPr>
              <a:t>Employee Management System  |  </a:t>
            </a:r>
            <a:r>
              <a:rPr lang="en-US" sz="1150" dirty="0" err="1" smtClean="0">
                <a:solidFill>
                  <a:srgbClr val="D6E4FA"/>
                </a:solidFill>
                <a:latin typeface="Calibri" pitchFamily="34" charset="0"/>
                <a:ea typeface="Calibri" pitchFamily="34" charset="-122"/>
                <a:cs typeface="Calibri" pitchFamily="34" charset="-120"/>
              </a:rPr>
              <a:t>Farkhunda</a:t>
            </a:r>
            <a:r>
              <a:rPr lang="en-US" sz="1150" dirty="0" smtClean="0">
                <a:solidFill>
                  <a:srgbClr val="D6E4FA"/>
                </a:solidFill>
                <a:latin typeface="Calibri" pitchFamily="34" charset="0"/>
                <a:ea typeface="Calibri" pitchFamily="34" charset="-122"/>
                <a:cs typeface="Calibri" pitchFamily="34" charset="-120"/>
              </a:rPr>
              <a:t> </a:t>
            </a:r>
            <a:r>
              <a:rPr lang="en-US" sz="1150" dirty="0" err="1" smtClean="0">
                <a:solidFill>
                  <a:srgbClr val="D6E4FA"/>
                </a:solidFill>
                <a:latin typeface="Calibri" pitchFamily="34" charset="0"/>
                <a:ea typeface="Calibri" pitchFamily="34" charset="-122"/>
                <a:cs typeface="Calibri" pitchFamily="34" charset="-120"/>
              </a:rPr>
              <a:t>Memon</a:t>
            </a:r>
            <a:endParaRPr lang="en-US" sz="1150" dirty="0" smtClean="0">
              <a:solidFill>
                <a:srgbClr val="D6E4FA"/>
              </a:solidFill>
              <a:latin typeface="Calibri" pitchFamily="34" charset="0"/>
              <a:ea typeface="Calibri" pitchFamily="34" charset="-122"/>
              <a:cs typeface="Calibri"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TotalTime>
  <Words>1573</Words>
  <Application>Microsoft Office PowerPoint</Application>
  <PresentationFormat>Widescreen</PresentationFormat>
  <Paragraphs>178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8</cp:revision>
  <dcterms:created xsi:type="dcterms:W3CDTF">2026-08-28T20:26:37Z</dcterms:created>
  <dcterms:modified xsi:type="dcterms:W3CDTF">2026-08-28T23:15:55Z</dcterms:modified>
</cp:coreProperties>
</file>